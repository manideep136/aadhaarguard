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750" b="0" i="0">
                <a:solidFill>
                  <a:srgbClr val="2A2B2F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50" b="0" i="0">
                <a:solidFill>
                  <a:srgbClr val="2A2B2F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750" b="0" i="0">
                <a:solidFill>
                  <a:srgbClr val="2A2B2F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950" b="0" i="0">
                <a:solidFill>
                  <a:srgbClr val="2A2B2F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750" b="0" i="0">
                <a:solidFill>
                  <a:srgbClr val="2A2B2F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750" b="0" i="0">
                <a:solidFill>
                  <a:srgbClr val="2A2B2F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FED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724024" y="1600107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138112" y="276224"/>
                </a:moveTo>
                <a:lnTo>
                  <a:pt x="98020" y="270279"/>
                </a:lnTo>
                <a:lnTo>
                  <a:pt x="61381" y="252948"/>
                </a:lnTo>
                <a:lnTo>
                  <a:pt x="31348" y="225731"/>
                </a:lnTo>
                <a:lnTo>
                  <a:pt x="10513" y="190965"/>
                </a:lnTo>
                <a:lnTo>
                  <a:pt x="663" y="151650"/>
                </a:lnTo>
                <a:lnTo>
                  <a:pt x="0" y="138112"/>
                </a:lnTo>
                <a:lnTo>
                  <a:pt x="165" y="131327"/>
                </a:lnTo>
                <a:lnTo>
                  <a:pt x="8069" y="91591"/>
                </a:lnTo>
                <a:lnTo>
                  <a:pt x="27183" y="55831"/>
                </a:lnTo>
                <a:lnTo>
                  <a:pt x="55831" y="27183"/>
                </a:lnTo>
                <a:lnTo>
                  <a:pt x="91591" y="8069"/>
                </a:lnTo>
                <a:lnTo>
                  <a:pt x="131327" y="165"/>
                </a:lnTo>
                <a:lnTo>
                  <a:pt x="138112" y="0"/>
                </a:lnTo>
                <a:lnTo>
                  <a:pt x="144897" y="165"/>
                </a:lnTo>
                <a:lnTo>
                  <a:pt x="184633" y="8069"/>
                </a:lnTo>
                <a:lnTo>
                  <a:pt x="220393" y="27183"/>
                </a:lnTo>
                <a:lnTo>
                  <a:pt x="249041" y="55831"/>
                </a:lnTo>
                <a:lnTo>
                  <a:pt x="268155" y="91591"/>
                </a:lnTo>
                <a:lnTo>
                  <a:pt x="276059" y="131327"/>
                </a:lnTo>
                <a:lnTo>
                  <a:pt x="276224" y="138112"/>
                </a:lnTo>
                <a:lnTo>
                  <a:pt x="276059" y="144897"/>
                </a:lnTo>
                <a:lnTo>
                  <a:pt x="268155" y="184633"/>
                </a:lnTo>
                <a:lnTo>
                  <a:pt x="249041" y="220393"/>
                </a:lnTo>
                <a:lnTo>
                  <a:pt x="220393" y="249041"/>
                </a:lnTo>
                <a:lnTo>
                  <a:pt x="184633" y="268155"/>
                </a:lnTo>
                <a:lnTo>
                  <a:pt x="144897" y="276059"/>
                </a:lnTo>
                <a:lnTo>
                  <a:pt x="138112" y="276224"/>
                </a:lnTo>
                <a:close/>
              </a:path>
            </a:pathLst>
          </a:custGeom>
          <a:solidFill>
            <a:srgbClr val="2A2B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724024" y="3581307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138112" y="276224"/>
                </a:moveTo>
                <a:lnTo>
                  <a:pt x="98020" y="270279"/>
                </a:lnTo>
                <a:lnTo>
                  <a:pt x="61381" y="252948"/>
                </a:lnTo>
                <a:lnTo>
                  <a:pt x="31348" y="225730"/>
                </a:lnTo>
                <a:lnTo>
                  <a:pt x="10513" y="190965"/>
                </a:lnTo>
                <a:lnTo>
                  <a:pt x="663" y="151649"/>
                </a:lnTo>
                <a:lnTo>
                  <a:pt x="0" y="138112"/>
                </a:lnTo>
                <a:lnTo>
                  <a:pt x="165" y="131327"/>
                </a:lnTo>
                <a:lnTo>
                  <a:pt x="8069" y="91591"/>
                </a:lnTo>
                <a:lnTo>
                  <a:pt x="27183" y="55831"/>
                </a:lnTo>
                <a:lnTo>
                  <a:pt x="55831" y="27183"/>
                </a:lnTo>
                <a:lnTo>
                  <a:pt x="91591" y="8069"/>
                </a:lnTo>
                <a:lnTo>
                  <a:pt x="131327" y="165"/>
                </a:lnTo>
                <a:lnTo>
                  <a:pt x="138112" y="0"/>
                </a:lnTo>
                <a:lnTo>
                  <a:pt x="144897" y="165"/>
                </a:lnTo>
                <a:lnTo>
                  <a:pt x="184633" y="8069"/>
                </a:lnTo>
                <a:lnTo>
                  <a:pt x="220393" y="27183"/>
                </a:lnTo>
                <a:lnTo>
                  <a:pt x="249041" y="55831"/>
                </a:lnTo>
                <a:lnTo>
                  <a:pt x="268155" y="91590"/>
                </a:lnTo>
                <a:lnTo>
                  <a:pt x="276059" y="131327"/>
                </a:lnTo>
                <a:lnTo>
                  <a:pt x="276224" y="138112"/>
                </a:lnTo>
                <a:lnTo>
                  <a:pt x="276059" y="144897"/>
                </a:lnTo>
                <a:lnTo>
                  <a:pt x="268155" y="184633"/>
                </a:lnTo>
                <a:lnTo>
                  <a:pt x="249041" y="220392"/>
                </a:lnTo>
                <a:lnTo>
                  <a:pt x="220393" y="249041"/>
                </a:lnTo>
                <a:lnTo>
                  <a:pt x="184633" y="268155"/>
                </a:lnTo>
                <a:lnTo>
                  <a:pt x="144897" y="276059"/>
                </a:lnTo>
                <a:lnTo>
                  <a:pt x="138112" y="276224"/>
                </a:lnTo>
                <a:close/>
              </a:path>
            </a:pathLst>
          </a:custGeom>
          <a:solidFill>
            <a:srgbClr val="2A2B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724024" y="6553106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138112" y="276224"/>
                </a:moveTo>
                <a:lnTo>
                  <a:pt x="98020" y="270278"/>
                </a:lnTo>
                <a:lnTo>
                  <a:pt x="61381" y="252947"/>
                </a:lnTo>
                <a:lnTo>
                  <a:pt x="31348" y="225730"/>
                </a:lnTo>
                <a:lnTo>
                  <a:pt x="10513" y="190965"/>
                </a:lnTo>
                <a:lnTo>
                  <a:pt x="663" y="151650"/>
                </a:lnTo>
                <a:lnTo>
                  <a:pt x="0" y="138112"/>
                </a:lnTo>
                <a:lnTo>
                  <a:pt x="165" y="131327"/>
                </a:lnTo>
                <a:lnTo>
                  <a:pt x="8069" y="91590"/>
                </a:lnTo>
                <a:lnTo>
                  <a:pt x="27183" y="55831"/>
                </a:lnTo>
                <a:lnTo>
                  <a:pt x="55831" y="27183"/>
                </a:lnTo>
                <a:lnTo>
                  <a:pt x="91591" y="8069"/>
                </a:lnTo>
                <a:lnTo>
                  <a:pt x="131327" y="165"/>
                </a:lnTo>
                <a:lnTo>
                  <a:pt x="138112" y="0"/>
                </a:lnTo>
                <a:lnTo>
                  <a:pt x="144897" y="165"/>
                </a:lnTo>
                <a:lnTo>
                  <a:pt x="184633" y="8069"/>
                </a:lnTo>
                <a:lnTo>
                  <a:pt x="220393" y="27183"/>
                </a:lnTo>
                <a:lnTo>
                  <a:pt x="249041" y="55831"/>
                </a:lnTo>
                <a:lnTo>
                  <a:pt x="268155" y="91590"/>
                </a:lnTo>
                <a:lnTo>
                  <a:pt x="276059" y="131327"/>
                </a:lnTo>
                <a:lnTo>
                  <a:pt x="276224" y="138112"/>
                </a:lnTo>
                <a:lnTo>
                  <a:pt x="276059" y="144897"/>
                </a:lnTo>
                <a:lnTo>
                  <a:pt x="268155" y="184633"/>
                </a:lnTo>
                <a:lnTo>
                  <a:pt x="249041" y="220392"/>
                </a:lnTo>
                <a:lnTo>
                  <a:pt x="220393" y="249040"/>
                </a:lnTo>
                <a:lnTo>
                  <a:pt x="184633" y="268153"/>
                </a:lnTo>
                <a:lnTo>
                  <a:pt x="144897" y="276059"/>
                </a:lnTo>
                <a:lnTo>
                  <a:pt x="138112" y="276224"/>
                </a:lnTo>
                <a:close/>
              </a:path>
            </a:pathLst>
          </a:custGeom>
          <a:solidFill>
            <a:srgbClr val="2A2B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FED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4155" y="1871571"/>
            <a:ext cx="16639688" cy="41541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750" b="0" i="0">
                <a:solidFill>
                  <a:srgbClr val="2A2B2F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72442" y="2139314"/>
            <a:ext cx="14828519" cy="650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50" b="0" i="0">
                <a:solidFill>
                  <a:srgbClr val="2A2B2F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manideepkolluri73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706" y="4514764"/>
            <a:ext cx="16230600" cy="38735"/>
          </a:xfrm>
          <a:custGeom>
            <a:avLst/>
            <a:gdLst/>
            <a:ahLst/>
            <a:cxnLst/>
            <a:rect l="l" t="t" r="r" b="b"/>
            <a:pathLst>
              <a:path w="16230600" h="38735">
                <a:moveTo>
                  <a:pt x="0" y="38508"/>
                </a:moveTo>
                <a:lnTo>
                  <a:pt x="16230593" y="0"/>
                </a:lnTo>
              </a:path>
            </a:pathLst>
          </a:custGeom>
          <a:ln w="9524">
            <a:solidFill>
              <a:srgbClr val="2A2B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74" y="1871571"/>
            <a:ext cx="14074140" cy="34944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AadhaarGuard</a:t>
            </a:r>
          </a:p>
          <a:p>
            <a:pPr marL="168275">
              <a:lnSpc>
                <a:spcPct val="100000"/>
              </a:lnSpc>
              <a:spcBef>
                <a:spcPts val="2765"/>
              </a:spcBef>
              <a:tabLst>
                <a:tab pos="4507865" algn="l"/>
                <a:tab pos="6891655" algn="l"/>
              </a:tabLst>
            </a:pPr>
            <a:r>
              <a:rPr sz="3700" b="1" spc="350" dirty="0">
                <a:latin typeface="Trebuchet MS"/>
                <a:cs typeface="Trebuchet MS"/>
              </a:rPr>
              <a:t>A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110" dirty="0">
                <a:latin typeface="Trebuchet MS"/>
                <a:cs typeface="Trebuchet MS"/>
              </a:rPr>
              <a:t>I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95" dirty="0">
                <a:latin typeface="Trebuchet MS"/>
                <a:cs typeface="Trebuchet MS"/>
              </a:rPr>
              <a:t>-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235" dirty="0">
                <a:latin typeface="Trebuchet MS"/>
                <a:cs typeface="Trebuchet MS"/>
              </a:rPr>
              <a:t>P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204" dirty="0">
                <a:latin typeface="Trebuchet MS"/>
                <a:cs typeface="Trebuchet MS"/>
              </a:rPr>
              <a:t>O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290" dirty="0">
                <a:latin typeface="Trebuchet MS"/>
                <a:cs typeface="Trebuchet MS"/>
              </a:rPr>
              <a:t>W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250" dirty="0">
                <a:latin typeface="Trebuchet MS"/>
                <a:cs typeface="Trebuchet MS"/>
              </a:rPr>
              <a:t>E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315" dirty="0">
                <a:latin typeface="Trebuchet MS"/>
                <a:cs typeface="Trebuchet MS"/>
              </a:rPr>
              <a:t>R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250" dirty="0">
                <a:latin typeface="Trebuchet MS"/>
                <a:cs typeface="Trebuchet MS"/>
              </a:rPr>
              <a:t>E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235" dirty="0">
                <a:latin typeface="Trebuchet MS"/>
                <a:cs typeface="Trebuchet MS"/>
              </a:rPr>
              <a:t>D</a:t>
            </a:r>
            <a:r>
              <a:rPr sz="3700" b="1" dirty="0">
                <a:latin typeface="Trebuchet MS"/>
                <a:cs typeface="Trebuchet MS"/>
              </a:rPr>
              <a:t>	</a:t>
            </a:r>
            <a:r>
              <a:rPr sz="3700" b="1" spc="105" dirty="0">
                <a:latin typeface="Trebuchet MS"/>
                <a:cs typeface="Trebuchet MS"/>
              </a:rPr>
              <a:t>F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315" dirty="0">
                <a:latin typeface="Trebuchet MS"/>
                <a:cs typeface="Trebuchet MS"/>
              </a:rPr>
              <a:t>R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350" dirty="0">
                <a:latin typeface="Trebuchet MS"/>
                <a:cs typeface="Trebuchet MS"/>
              </a:rPr>
              <a:t>A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175" dirty="0">
                <a:latin typeface="Trebuchet MS"/>
                <a:cs typeface="Trebuchet MS"/>
              </a:rPr>
              <a:t>U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235" dirty="0">
                <a:latin typeface="Trebuchet MS"/>
                <a:cs typeface="Trebuchet MS"/>
              </a:rPr>
              <a:t>D</a:t>
            </a:r>
            <a:r>
              <a:rPr sz="3700" b="1" dirty="0">
                <a:latin typeface="Trebuchet MS"/>
                <a:cs typeface="Trebuchet MS"/>
              </a:rPr>
              <a:t>	</a:t>
            </a:r>
            <a:r>
              <a:rPr sz="3700" b="1" spc="285" dirty="0">
                <a:latin typeface="Trebuchet MS"/>
                <a:cs typeface="Trebuchet MS"/>
              </a:rPr>
              <a:t>D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250" dirty="0">
                <a:latin typeface="Trebuchet MS"/>
                <a:cs typeface="Trebuchet MS"/>
              </a:rPr>
              <a:t>E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dirty="0">
                <a:latin typeface="Trebuchet MS"/>
                <a:cs typeface="Trebuchet MS"/>
              </a:rPr>
              <a:t>T</a:t>
            </a:r>
            <a:r>
              <a:rPr sz="3700" b="1" spc="-265" dirty="0">
                <a:latin typeface="Trebuchet MS"/>
                <a:cs typeface="Trebuchet MS"/>
              </a:rPr>
              <a:t> </a:t>
            </a:r>
            <a:r>
              <a:rPr sz="3700" b="1" spc="250" dirty="0">
                <a:latin typeface="Trebuchet MS"/>
                <a:cs typeface="Trebuchet MS"/>
              </a:rPr>
              <a:t>E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380" dirty="0">
                <a:latin typeface="Trebuchet MS"/>
                <a:cs typeface="Trebuchet MS"/>
              </a:rPr>
              <a:t>C</a:t>
            </a:r>
            <a:r>
              <a:rPr sz="3700" b="1" spc="-265" dirty="0">
                <a:latin typeface="Trebuchet MS"/>
                <a:cs typeface="Trebuchet MS"/>
              </a:rPr>
              <a:t> </a:t>
            </a:r>
            <a:r>
              <a:rPr sz="3700" b="1" dirty="0">
                <a:latin typeface="Trebuchet MS"/>
                <a:cs typeface="Trebuchet MS"/>
              </a:rPr>
              <a:t>T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110" dirty="0">
                <a:latin typeface="Trebuchet MS"/>
                <a:cs typeface="Trebuchet MS"/>
              </a:rPr>
              <a:t>I</a:t>
            </a:r>
            <a:r>
              <a:rPr sz="3700" b="1" spc="-265" dirty="0">
                <a:latin typeface="Trebuchet MS"/>
                <a:cs typeface="Trebuchet MS"/>
              </a:rPr>
              <a:t> </a:t>
            </a:r>
            <a:r>
              <a:rPr sz="3700" b="1" spc="204" dirty="0">
                <a:latin typeface="Trebuchet MS"/>
                <a:cs typeface="Trebuchet MS"/>
              </a:rPr>
              <a:t>O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370" dirty="0">
                <a:latin typeface="Trebuchet MS"/>
                <a:cs typeface="Trebuchet MS"/>
              </a:rPr>
              <a:t>N</a:t>
            </a:r>
            <a:endParaRPr sz="37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3707" y="8442946"/>
            <a:ext cx="2847975" cy="90170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300" spc="140" dirty="0">
                <a:solidFill>
                  <a:srgbClr val="2A2B2F"/>
                </a:solidFill>
                <a:latin typeface="Trebuchet MS"/>
                <a:cs typeface="Trebuchet MS"/>
              </a:rPr>
              <a:t>KOLLURI</a:t>
            </a:r>
            <a:r>
              <a:rPr sz="2300" spc="-145" dirty="0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sz="2300" spc="190" dirty="0">
                <a:solidFill>
                  <a:srgbClr val="2A2B2F"/>
                </a:solidFill>
                <a:latin typeface="Trebuchet MS"/>
                <a:cs typeface="Trebuchet MS"/>
              </a:rPr>
              <a:t>MANIDEEP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00" spc="-25" dirty="0">
                <a:solidFill>
                  <a:srgbClr val="2A2B2F"/>
                </a:solidFill>
                <a:latin typeface="Trebuchet MS"/>
                <a:cs typeface="Trebuchet MS"/>
              </a:rPr>
              <a:t>16</a:t>
            </a:r>
            <a:r>
              <a:rPr sz="2300" spc="-135" dirty="0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sz="2300" spc="-30" dirty="0">
                <a:solidFill>
                  <a:srgbClr val="2A2B2F"/>
                </a:solidFill>
                <a:latin typeface="Trebuchet MS"/>
                <a:cs typeface="Trebuchet MS"/>
              </a:rPr>
              <a:t>January,</a:t>
            </a:r>
            <a:r>
              <a:rPr sz="2300" spc="-130" dirty="0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sz="2300" spc="165" dirty="0">
                <a:solidFill>
                  <a:srgbClr val="2A2B2F"/>
                </a:solidFill>
                <a:latin typeface="Trebuchet MS"/>
                <a:cs typeface="Trebuchet MS"/>
              </a:rPr>
              <a:t>2026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11732" y="2562225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138112" y="276224"/>
                </a:moveTo>
                <a:lnTo>
                  <a:pt x="98020" y="270279"/>
                </a:lnTo>
                <a:lnTo>
                  <a:pt x="61381" y="252948"/>
                </a:lnTo>
                <a:lnTo>
                  <a:pt x="31348" y="225731"/>
                </a:lnTo>
                <a:lnTo>
                  <a:pt x="10513" y="190965"/>
                </a:lnTo>
                <a:lnTo>
                  <a:pt x="663" y="151650"/>
                </a:lnTo>
                <a:lnTo>
                  <a:pt x="0" y="138112"/>
                </a:lnTo>
                <a:lnTo>
                  <a:pt x="165" y="131327"/>
                </a:lnTo>
                <a:lnTo>
                  <a:pt x="8069" y="91591"/>
                </a:lnTo>
                <a:lnTo>
                  <a:pt x="27183" y="55831"/>
                </a:lnTo>
                <a:lnTo>
                  <a:pt x="55831" y="27183"/>
                </a:lnTo>
                <a:lnTo>
                  <a:pt x="91591" y="8069"/>
                </a:lnTo>
                <a:lnTo>
                  <a:pt x="131327" y="165"/>
                </a:lnTo>
                <a:lnTo>
                  <a:pt x="138112" y="0"/>
                </a:lnTo>
                <a:lnTo>
                  <a:pt x="144897" y="165"/>
                </a:lnTo>
                <a:lnTo>
                  <a:pt x="184633" y="8069"/>
                </a:lnTo>
                <a:lnTo>
                  <a:pt x="220393" y="27183"/>
                </a:lnTo>
                <a:lnTo>
                  <a:pt x="249041" y="55831"/>
                </a:lnTo>
                <a:lnTo>
                  <a:pt x="268155" y="91591"/>
                </a:lnTo>
                <a:lnTo>
                  <a:pt x="276059" y="131327"/>
                </a:lnTo>
                <a:lnTo>
                  <a:pt x="276224" y="138112"/>
                </a:lnTo>
                <a:lnTo>
                  <a:pt x="276059" y="144897"/>
                </a:lnTo>
                <a:lnTo>
                  <a:pt x="268155" y="184633"/>
                </a:lnTo>
                <a:lnTo>
                  <a:pt x="249041" y="220393"/>
                </a:lnTo>
                <a:lnTo>
                  <a:pt x="220393" y="249041"/>
                </a:lnTo>
                <a:lnTo>
                  <a:pt x="184633" y="268155"/>
                </a:lnTo>
                <a:lnTo>
                  <a:pt x="144897" y="276059"/>
                </a:lnTo>
                <a:lnTo>
                  <a:pt x="138112" y="276224"/>
                </a:lnTo>
                <a:close/>
              </a:path>
            </a:pathLst>
          </a:custGeom>
          <a:solidFill>
            <a:srgbClr val="2A2B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11732" y="5534024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138112" y="276224"/>
                </a:moveTo>
                <a:lnTo>
                  <a:pt x="98020" y="270278"/>
                </a:lnTo>
                <a:lnTo>
                  <a:pt x="61381" y="252948"/>
                </a:lnTo>
                <a:lnTo>
                  <a:pt x="31348" y="225730"/>
                </a:lnTo>
                <a:lnTo>
                  <a:pt x="10513" y="190965"/>
                </a:lnTo>
                <a:lnTo>
                  <a:pt x="663" y="151649"/>
                </a:lnTo>
                <a:lnTo>
                  <a:pt x="0" y="138112"/>
                </a:lnTo>
                <a:lnTo>
                  <a:pt x="165" y="131327"/>
                </a:lnTo>
                <a:lnTo>
                  <a:pt x="8069" y="91590"/>
                </a:lnTo>
                <a:lnTo>
                  <a:pt x="27183" y="55831"/>
                </a:lnTo>
                <a:lnTo>
                  <a:pt x="55831" y="27183"/>
                </a:lnTo>
                <a:lnTo>
                  <a:pt x="91591" y="8069"/>
                </a:lnTo>
                <a:lnTo>
                  <a:pt x="131327" y="165"/>
                </a:lnTo>
                <a:lnTo>
                  <a:pt x="138112" y="0"/>
                </a:lnTo>
                <a:lnTo>
                  <a:pt x="144897" y="165"/>
                </a:lnTo>
                <a:lnTo>
                  <a:pt x="184633" y="8069"/>
                </a:lnTo>
                <a:lnTo>
                  <a:pt x="220393" y="27183"/>
                </a:lnTo>
                <a:lnTo>
                  <a:pt x="249041" y="55831"/>
                </a:lnTo>
                <a:lnTo>
                  <a:pt x="268155" y="91590"/>
                </a:lnTo>
                <a:lnTo>
                  <a:pt x="276059" y="131327"/>
                </a:lnTo>
                <a:lnTo>
                  <a:pt x="276224" y="138112"/>
                </a:lnTo>
                <a:lnTo>
                  <a:pt x="276059" y="144897"/>
                </a:lnTo>
                <a:lnTo>
                  <a:pt x="268155" y="184632"/>
                </a:lnTo>
                <a:lnTo>
                  <a:pt x="249041" y="220392"/>
                </a:lnTo>
                <a:lnTo>
                  <a:pt x="220393" y="249040"/>
                </a:lnTo>
                <a:lnTo>
                  <a:pt x="184633" y="268154"/>
                </a:lnTo>
                <a:lnTo>
                  <a:pt x="144897" y="276058"/>
                </a:lnTo>
                <a:lnTo>
                  <a:pt x="138112" y="276224"/>
                </a:lnTo>
                <a:close/>
              </a:path>
            </a:pathLst>
          </a:custGeom>
          <a:solidFill>
            <a:srgbClr val="2A2B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190" marR="5080">
              <a:lnSpc>
                <a:spcPct val="107400"/>
              </a:lnSpc>
              <a:spcBef>
                <a:spcPts val="100"/>
              </a:spcBef>
            </a:pPr>
            <a:r>
              <a:rPr sz="6050" dirty="0"/>
              <a:t>Scale:</a:t>
            </a:r>
            <a:r>
              <a:rPr sz="6050" spc="140" dirty="0"/>
              <a:t> </a:t>
            </a:r>
            <a:r>
              <a:rPr sz="6050" dirty="0"/>
              <a:t>Aadhaar</a:t>
            </a:r>
            <a:r>
              <a:rPr sz="6050" spc="145" dirty="0"/>
              <a:t> </a:t>
            </a:r>
            <a:r>
              <a:rPr sz="6050" spc="120" dirty="0"/>
              <a:t>processes</a:t>
            </a:r>
            <a:r>
              <a:rPr sz="6050" spc="150" dirty="0"/>
              <a:t> </a:t>
            </a:r>
            <a:r>
              <a:rPr sz="6050" dirty="0"/>
              <a:t>millions</a:t>
            </a:r>
            <a:r>
              <a:rPr sz="6050" spc="150" dirty="0"/>
              <a:t> </a:t>
            </a:r>
            <a:r>
              <a:rPr sz="6050" spc="-25" dirty="0"/>
              <a:t>of </a:t>
            </a:r>
            <a:r>
              <a:rPr sz="6050" spc="60" dirty="0"/>
              <a:t>updates</a:t>
            </a:r>
            <a:r>
              <a:rPr sz="6050" spc="114" dirty="0"/>
              <a:t> </a:t>
            </a:r>
            <a:r>
              <a:rPr sz="6050" dirty="0"/>
              <a:t>daily;</a:t>
            </a:r>
            <a:r>
              <a:rPr sz="6050" spc="130" dirty="0"/>
              <a:t> </a:t>
            </a:r>
            <a:r>
              <a:rPr sz="6050" dirty="0"/>
              <a:t>manual</a:t>
            </a:r>
            <a:r>
              <a:rPr sz="6050" spc="125" dirty="0"/>
              <a:t> </a:t>
            </a:r>
            <a:r>
              <a:rPr sz="6050" spc="60" dirty="0"/>
              <a:t>verification</a:t>
            </a:r>
            <a:r>
              <a:rPr sz="6050" spc="130" dirty="0"/>
              <a:t> </a:t>
            </a:r>
            <a:r>
              <a:rPr sz="6050" spc="95" dirty="0"/>
              <a:t>covers </a:t>
            </a:r>
            <a:r>
              <a:rPr sz="6050" spc="85" dirty="0"/>
              <a:t>less</a:t>
            </a:r>
            <a:r>
              <a:rPr sz="6050" spc="160" dirty="0"/>
              <a:t> </a:t>
            </a:r>
            <a:r>
              <a:rPr sz="6050" dirty="0"/>
              <a:t>than</a:t>
            </a:r>
            <a:r>
              <a:rPr sz="6050" spc="155" dirty="0"/>
              <a:t> </a:t>
            </a:r>
            <a:r>
              <a:rPr sz="6050" spc="-335" dirty="0"/>
              <a:t>1%.</a:t>
            </a:r>
            <a:endParaRPr sz="6050"/>
          </a:p>
          <a:p>
            <a:pPr marL="250190" marR="1266190">
              <a:lnSpc>
                <a:spcPct val="107400"/>
              </a:lnSpc>
              <a:spcBef>
                <a:spcPts val="5"/>
              </a:spcBef>
            </a:pPr>
            <a:r>
              <a:rPr sz="6050" spc="55" dirty="0"/>
              <a:t>The</a:t>
            </a:r>
            <a:r>
              <a:rPr sz="6050" spc="195" dirty="0"/>
              <a:t> </a:t>
            </a:r>
            <a:r>
              <a:rPr sz="6050" dirty="0"/>
              <a:t>Threat:</a:t>
            </a:r>
            <a:r>
              <a:rPr sz="6050" spc="195" dirty="0"/>
              <a:t> </a:t>
            </a:r>
            <a:r>
              <a:rPr sz="6050" dirty="0"/>
              <a:t>Automated</a:t>
            </a:r>
            <a:r>
              <a:rPr sz="6050" spc="190" dirty="0"/>
              <a:t> </a:t>
            </a:r>
            <a:r>
              <a:rPr sz="6050" spc="100" dirty="0"/>
              <a:t>scripts</a:t>
            </a:r>
            <a:r>
              <a:rPr sz="6050" spc="195" dirty="0"/>
              <a:t> </a:t>
            </a:r>
            <a:r>
              <a:rPr sz="6050" spc="105" dirty="0"/>
              <a:t>create </a:t>
            </a:r>
            <a:r>
              <a:rPr sz="6050" spc="-30" dirty="0"/>
              <a:t>"Ghost</a:t>
            </a:r>
            <a:r>
              <a:rPr sz="6050" spc="25" dirty="0"/>
              <a:t> </a:t>
            </a:r>
            <a:r>
              <a:rPr sz="6050" spc="-265" dirty="0"/>
              <a:t>IDs"</a:t>
            </a:r>
            <a:r>
              <a:rPr sz="6050" spc="30" dirty="0"/>
              <a:t> </a:t>
            </a:r>
            <a:r>
              <a:rPr sz="6050" dirty="0"/>
              <a:t>and</a:t>
            </a:r>
            <a:r>
              <a:rPr sz="6050" spc="20" dirty="0"/>
              <a:t> </a:t>
            </a:r>
            <a:r>
              <a:rPr sz="6050" spc="105" dirty="0"/>
              <a:t>perform</a:t>
            </a:r>
            <a:r>
              <a:rPr sz="6050" spc="30" dirty="0"/>
              <a:t> </a:t>
            </a:r>
            <a:r>
              <a:rPr sz="6050" spc="190" dirty="0"/>
              <a:t>high-</a:t>
            </a:r>
            <a:r>
              <a:rPr sz="6050" spc="85" dirty="0"/>
              <a:t>speed </a:t>
            </a:r>
            <a:r>
              <a:rPr sz="6050" spc="80" dirty="0"/>
              <a:t>biometric</a:t>
            </a:r>
            <a:r>
              <a:rPr sz="6050" spc="100" dirty="0"/>
              <a:t> </a:t>
            </a:r>
            <a:r>
              <a:rPr sz="6050" spc="60" dirty="0"/>
              <a:t>identity</a:t>
            </a:r>
            <a:r>
              <a:rPr sz="6050" spc="110" dirty="0"/>
              <a:t> </a:t>
            </a:r>
            <a:r>
              <a:rPr sz="6050" spc="-10" dirty="0"/>
              <a:t>theft.</a:t>
            </a:r>
            <a:endParaRPr sz="605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94171" y="982922"/>
            <a:ext cx="14996160" cy="5918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493520" algn="l"/>
                <a:tab pos="5813425" algn="l"/>
                <a:tab pos="9624695" algn="l"/>
                <a:tab pos="11967210" algn="l"/>
                <a:tab pos="13011785" algn="l"/>
              </a:tabLst>
            </a:pPr>
            <a:r>
              <a:rPr sz="3700" b="1" dirty="0">
                <a:latin typeface="Trebuchet MS"/>
                <a:cs typeface="Trebuchet MS"/>
              </a:rPr>
              <a:t>T</a:t>
            </a:r>
            <a:r>
              <a:rPr sz="3700" b="1" spc="-265" dirty="0">
                <a:latin typeface="Trebuchet MS"/>
                <a:cs typeface="Trebuchet MS"/>
              </a:rPr>
              <a:t> </a:t>
            </a:r>
            <a:r>
              <a:rPr sz="3700" b="1" spc="325" dirty="0">
                <a:latin typeface="Trebuchet MS"/>
                <a:cs typeface="Trebuchet MS"/>
              </a:rPr>
              <a:t>H</a:t>
            </a:r>
            <a:r>
              <a:rPr sz="3700" b="1" spc="-260" dirty="0">
                <a:latin typeface="Trebuchet MS"/>
                <a:cs typeface="Trebuchet MS"/>
              </a:rPr>
              <a:t> </a:t>
            </a:r>
            <a:r>
              <a:rPr sz="3700" b="1" spc="200" dirty="0">
                <a:latin typeface="Trebuchet MS"/>
                <a:cs typeface="Trebuchet MS"/>
              </a:rPr>
              <a:t>E</a:t>
            </a:r>
            <a:r>
              <a:rPr sz="3700" b="1" dirty="0">
                <a:latin typeface="Trebuchet MS"/>
                <a:cs typeface="Trebuchet MS"/>
              </a:rPr>
              <a:t>	</a:t>
            </a:r>
            <a:r>
              <a:rPr sz="3700" b="1" spc="380" dirty="0">
                <a:latin typeface="Trebuchet MS"/>
                <a:cs typeface="Trebuchet MS"/>
              </a:rPr>
              <a:t>C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325" dirty="0">
                <a:latin typeface="Trebuchet MS"/>
                <a:cs typeface="Trebuchet MS"/>
              </a:rPr>
              <a:t>H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350" dirty="0">
                <a:latin typeface="Trebuchet MS"/>
                <a:cs typeface="Trebuchet MS"/>
              </a:rPr>
              <a:t>A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80" dirty="0">
                <a:latin typeface="Trebuchet MS"/>
                <a:cs typeface="Trebuchet MS"/>
              </a:rPr>
              <a:t>L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80" dirty="0">
                <a:latin typeface="Trebuchet MS"/>
                <a:cs typeface="Trebuchet MS"/>
              </a:rPr>
              <a:t>L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250" dirty="0">
                <a:latin typeface="Trebuchet MS"/>
                <a:cs typeface="Trebuchet MS"/>
              </a:rPr>
              <a:t>E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420" dirty="0">
                <a:latin typeface="Trebuchet MS"/>
                <a:cs typeface="Trebuchet MS"/>
              </a:rPr>
              <a:t>N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320" dirty="0">
                <a:latin typeface="Trebuchet MS"/>
                <a:cs typeface="Trebuchet MS"/>
              </a:rPr>
              <a:t>G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250" dirty="0">
                <a:latin typeface="Trebuchet MS"/>
                <a:cs typeface="Trebuchet MS"/>
              </a:rPr>
              <a:t>E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-420" dirty="0">
                <a:latin typeface="Trebuchet MS"/>
                <a:cs typeface="Trebuchet MS"/>
              </a:rPr>
              <a:t>:</a:t>
            </a:r>
            <a:r>
              <a:rPr sz="3700" b="1" dirty="0">
                <a:latin typeface="Trebuchet MS"/>
                <a:cs typeface="Trebuchet MS"/>
              </a:rPr>
              <a:t>	</a:t>
            </a:r>
            <a:r>
              <a:rPr sz="3700" spc="295" dirty="0">
                <a:latin typeface="Trebuchet MS"/>
                <a:cs typeface="Trebuchet MS"/>
              </a:rPr>
              <a:t>D</a:t>
            </a:r>
            <a:r>
              <a:rPr sz="3700" spc="-265" dirty="0">
                <a:latin typeface="Trebuchet MS"/>
                <a:cs typeface="Trebuchet MS"/>
              </a:rPr>
              <a:t> </a:t>
            </a:r>
            <a:r>
              <a:rPr sz="3700" spc="295" dirty="0">
                <a:latin typeface="Trebuchet MS"/>
                <a:cs typeface="Trebuchet MS"/>
              </a:rPr>
              <a:t>E</a:t>
            </a:r>
            <a:r>
              <a:rPr sz="3700" spc="-260" dirty="0">
                <a:latin typeface="Trebuchet MS"/>
                <a:cs typeface="Trebuchet MS"/>
              </a:rPr>
              <a:t> </a:t>
            </a:r>
            <a:r>
              <a:rPr sz="3700" dirty="0">
                <a:latin typeface="Trebuchet MS"/>
                <a:cs typeface="Trebuchet MS"/>
              </a:rPr>
              <a:t>T</a:t>
            </a:r>
            <a:r>
              <a:rPr sz="3700" spc="-260" dirty="0">
                <a:latin typeface="Trebuchet MS"/>
                <a:cs typeface="Trebuchet MS"/>
              </a:rPr>
              <a:t> </a:t>
            </a:r>
            <a:r>
              <a:rPr sz="3700" spc="295" dirty="0">
                <a:latin typeface="Trebuchet MS"/>
                <a:cs typeface="Trebuchet MS"/>
              </a:rPr>
              <a:t>E</a:t>
            </a:r>
            <a:r>
              <a:rPr sz="3700" spc="-260" dirty="0">
                <a:latin typeface="Trebuchet MS"/>
                <a:cs typeface="Trebuchet MS"/>
              </a:rPr>
              <a:t> </a:t>
            </a:r>
            <a:r>
              <a:rPr sz="3700" spc="330" dirty="0">
                <a:latin typeface="Trebuchet MS"/>
                <a:cs typeface="Trebuchet MS"/>
              </a:rPr>
              <a:t>C</a:t>
            </a:r>
            <a:r>
              <a:rPr sz="3700" spc="-260" dirty="0">
                <a:latin typeface="Trebuchet MS"/>
                <a:cs typeface="Trebuchet MS"/>
              </a:rPr>
              <a:t> </a:t>
            </a:r>
            <a:r>
              <a:rPr sz="3700" dirty="0">
                <a:latin typeface="Trebuchet MS"/>
                <a:cs typeface="Trebuchet MS"/>
              </a:rPr>
              <a:t>T</a:t>
            </a:r>
            <a:r>
              <a:rPr sz="3700" spc="-260" dirty="0">
                <a:latin typeface="Trebuchet MS"/>
                <a:cs typeface="Trebuchet MS"/>
              </a:rPr>
              <a:t> </a:t>
            </a:r>
            <a:r>
              <a:rPr sz="3700" dirty="0">
                <a:latin typeface="Trebuchet MS"/>
                <a:cs typeface="Trebuchet MS"/>
              </a:rPr>
              <a:t>I</a:t>
            </a:r>
            <a:r>
              <a:rPr sz="3700" spc="-260" dirty="0">
                <a:latin typeface="Trebuchet MS"/>
                <a:cs typeface="Trebuchet MS"/>
              </a:rPr>
              <a:t> </a:t>
            </a:r>
            <a:r>
              <a:rPr sz="3700" spc="425" dirty="0">
                <a:latin typeface="Trebuchet MS"/>
                <a:cs typeface="Trebuchet MS"/>
              </a:rPr>
              <a:t>N</a:t>
            </a:r>
            <a:r>
              <a:rPr sz="3700" spc="-260" dirty="0">
                <a:latin typeface="Trebuchet MS"/>
                <a:cs typeface="Trebuchet MS"/>
              </a:rPr>
              <a:t> </a:t>
            </a:r>
            <a:r>
              <a:rPr sz="3700" spc="150" dirty="0">
                <a:latin typeface="Trebuchet MS"/>
                <a:cs typeface="Trebuchet MS"/>
              </a:rPr>
              <a:t>G</a:t>
            </a:r>
            <a:r>
              <a:rPr sz="3700" dirty="0">
                <a:latin typeface="Trebuchet MS"/>
                <a:cs typeface="Trebuchet MS"/>
              </a:rPr>
              <a:t>	</a:t>
            </a:r>
            <a:r>
              <a:rPr sz="3700" spc="250" dirty="0">
                <a:latin typeface="Trebuchet MS"/>
                <a:cs typeface="Trebuchet MS"/>
              </a:rPr>
              <a:t>F</a:t>
            </a:r>
            <a:r>
              <a:rPr sz="3700" spc="-275" dirty="0">
                <a:latin typeface="Trebuchet MS"/>
                <a:cs typeface="Trebuchet MS"/>
              </a:rPr>
              <a:t> </a:t>
            </a:r>
            <a:r>
              <a:rPr sz="3700" spc="340" dirty="0">
                <a:latin typeface="Trebuchet MS"/>
                <a:cs typeface="Trebuchet MS"/>
              </a:rPr>
              <a:t>R</a:t>
            </a:r>
            <a:r>
              <a:rPr sz="3700" spc="-270" dirty="0">
                <a:latin typeface="Trebuchet MS"/>
                <a:cs typeface="Trebuchet MS"/>
              </a:rPr>
              <a:t> </a:t>
            </a:r>
            <a:r>
              <a:rPr sz="3700" spc="434" dirty="0">
                <a:latin typeface="Trebuchet MS"/>
                <a:cs typeface="Trebuchet MS"/>
              </a:rPr>
              <a:t>A</a:t>
            </a:r>
            <a:r>
              <a:rPr sz="3700" spc="-275" dirty="0">
                <a:latin typeface="Trebuchet MS"/>
                <a:cs typeface="Trebuchet MS"/>
              </a:rPr>
              <a:t> </a:t>
            </a:r>
            <a:r>
              <a:rPr sz="3700" spc="190" dirty="0">
                <a:latin typeface="Trebuchet MS"/>
                <a:cs typeface="Trebuchet MS"/>
              </a:rPr>
              <a:t>U</a:t>
            </a:r>
            <a:r>
              <a:rPr sz="3700" spc="-270" dirty="0">
                <a:latin typeface="Trebuchet MS"/>
                <a:cs typeface="Trebuchet MS"/>
              </a:rPr>
              <a:t> </a:t>
            </a:r>
            <a:r>
              <a:rPr sz="3700" spc="245" dirty="0">
                <a:latin typeface="Trebuchet MS"/>
                <a:cs typeface="Trebuchet MS"/>
              </a:rPr>
              <a:t>D</a:t>
            </a:r>
            <a:r>
              <a:rPr sz="3700" dirty="0">
                <a:latin typeface="Trebuchet MS"/>
                <a:cs typeface="Trebuchet MS"/>
              </a:rPr>
              <a:t>	</a:t>
            </a:r>
            <a:r>
              <a:rPr sz="3700" spc="434" dirty="0">
                <a:latin typeface="Trebuchet MS"/>
                <a:cs typeface="Trebuchet MS"/>
              </a:rPr>
              <a:t>A</a:t>
            </a:r>
            <a:r>
              <a:rPr sz="3700" spc="-275" dirty="0">
                <a:latin typeface="Trebuchet MS"/>
                <a:cs typeface="Trebuchet MS"/>
              </a:rPr>
              <a:t> </a:t>
            </a:r>
            <a:r>
              <a:rPr sz="3700" spc="-50" dirty="0">
                <a:latin typeface="Trebuchet MS"/>
                <a:cs typeface="Trebuchet MS"/>
              </a:rPr>
              <a:t>T</a:t>
            </a:r>
            <a:r>
              <a:rPr sz="3700" dirty="0">
                <a:latin typeface="Trebuchet MS"/>
                <a:cs typeface="Trebuchet MS"/>
              </a:rPr>
              <a:t>	</a:t>
            </a:r>
            <a:r>
              <a:rPr sz="3700" spc="710" dirty="0">
                <a:latin typeface="Trebuchet MS"/>
                <a:cs typeface="Trebuchet MS"/>
              </a:rPr>
              <a:t>S</a:t>
            </a:r>
            <a:r>
              <a:rPr sz="3700" spc="-275" dirty="0">
                <a:latin typeface="Trebuchet MS"/>
                <a:cs typeface="Trebuchet MS"/>
              </a:rPr>
              <a:t> </a:t>
            </a:r>
            <a:r>
              <a:rPr sz="3700" spc="330" dirty="0">
                <a:latin typeface="Trebuchet MS"/>
                <a:cs typeface="Trebuchet MS"/>
              </a:rPr>
              <a:t>C</a:t>
            </a:r>
            <a:r>
              <a:rPr sz="3700" spc="-275" dirty="0">
                <a:latin typeface="Trebuchet MS"/>
                <a:cs typeface="Trebuchet MS"/>
              </a:rPr>
              <a:t> </a:t>
            </a:r>
            <a:r>
              <a:rPr sz="3700" spc="434" dirty="0">
                <a:latin typeface="Trebuchet MS"/>
                <a:cs typeface="Trebuchet MS"/>
              </a:rPr>
              <a:t>A</a:t>
            </a:r>
            <a:r>
              <a:rPr sz="3700" spc="-270" dirty="0">
                <a:latin typeface="Trebuchet MS"/>
                <a:cs typeface="Trebuchet MS"/>
              </a:rPr>
              <a:t> </a:t>
            </a:r>
            <a:r>
              <a:rPr sz="3700" spc="260" dirty="0">
                <a:latin typeface="Trebuchet MS"/>
                <a:cs typeface="Trebuchet MS"/>
              </a:rPr>
              <a:t>L</a:t>
            </a:r>
            <a:r>
              <a:rPr sz="3700" spc="-275" dirty="0">
                <a:latin typeface="Trebuchet MS"/>
                <a:cs typeface="Trebuchet MS"/>
              </a:rPr>
              <a:t> </a:t>
            </a:r>
            <a:r>
              <a:rPr sz="3700" spc="245" dirty="0">
                <a:latin typeface="Trebuchet MS"/>
                <a:cs typeface="Trebuchet MS"/>
              </a:rPr>
              <a:t>E</a:t>
            </a:r>
            <a:endParaRPr sz="37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8694" y="1760761"/>
            <a:ext cx="16230600" cy="38735"/>
          </a:xfrm>
          <a:custGeom>
            <a:avLst/>
            <a:gdLst/>
            <a:ahLst/>
            <a:cxnLst/>
            <a:rect l="l" t="t" r="r" b="b"/>
            <a:pathLst>
              <a:path w="16230600" h="38735">
                <a:moveTo>
                  <a:pt x="0" y="38508"/>
                </a:moveTo>
                <a:lnTo>
                  <a:pt x="16230593" y="0"/>
                </a:lnTo>
              </a:path>
            </a:pathLst>
          </a:custGeom>
          <a:ln w="9524">
            <a:solidFill>
              <a:srgbClr val="2A2B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22264" y="1160059"/>
            <a:ext cx="14843125" cy="795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762885">
              <a:lnSpc>
                <a:spcPct val="107400"/>
              </a:lnSpc>
              <a:spcBef>
                <a:spcPts val="100"/>
              </a:spcBef>
            </a:pPr>
            <a:r>
              <a:rPr sz="6050" spc="55" dirty="0">
                <a:solidFill>
                  <a:srgbClr val="2A2B2F"/>
                </a:solidFill>
                <a:latin typeface="Georgia"/>
                <a:cs typeface="Georgia"/>
              </a:rPr>
              <a:t>The</a:t>
            </a:r>
            <a:r>
              <a:rPr sz="6050" spc="1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6050" dirty="0">
                <a:solidFill>
                  <a:srgbClr val="2A2B2F"/>
                </a:solidFill>
                <a:latin typeface="Georgia"/>
                <a:cs typeface="Georgia"/>
              </a:rPr>
              <a:t>Gap:</a:t>
            </a:r>
            <a:r>
              <a:rPr sz="6050" spc="15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6050" spc="135" dirty="0">
                <a:solidFill>
                  <a:srgbClr val="2A2B2F"/>
                </a:solidFill>
                <a:latin typeface="Georgia"/>
                <a:cs typeface="Georgia"/>
              </a:rPr>
              <a:t>Rule-</a:t>
            </a:r>
            <a:r>
              <a:rPr sz="6050" spc="50" dirty="0">
                <a:solidFill>
                  <a:srgbClr val="2A2B2F"/>
                </a:solidFill>
                <a:latin typeface="Georgia"/>
                <a:cs typeface="Georgia"/>
              </a:rPr>
              <a:t>based</a:t>
            </a:r>
            <a:r>
              <a:rPr sz="6050" spc="1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6050" spc="85" dirty="0">
                <a:solidFill>
                  <a:srgbClr val="2A2B2F"/>
                </a:solidFill>
                <a:latin typeface="Georgia"/>
                <a:cs typeface="Georgia"/>
              </a:rPr>
              <a:t>systems</a:t>
            </a:r>
            <a:r>
              <a:rPr sz="6050" spc="15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6050" spc="30" dirty="0">
                <a:solidFill>
                  <a:srgbClr val="2A2B2F"/>
                </a:solidFill>
                <a:latin typeface="Georgia"/>
                <a:cs typeface="Georgia"/>
              </a:rPr>
              <a:t>miss </a:t>
            </a:r>
            <a:r>
              <a:rPr sz="6050" spc="65" dirty="0">
                <a:solidFill>
                  <a:srgbClr val="2A2B2F"/>
                </a:solidFill>
                <a:latin typeface="Georgia"/>
                <a:cs typeface="Georgia"/>
              </a:rPr>
              <a:t>complex,</a:t>
            </a:r>
            <a:r>
              <a:rPr sz="6050" spc="114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6050" spc="50" dirty="0">
                <a:solidFill>
                  <a:srgbClr val="2A2B2F"/>
                </a:solidFill>
                <a:latin typeface="Georgia"/>
                <a:cs typeface="Georgia"/>
              </a:rPr>
              <a:t>statistical</a:t>
            </a:r>
            <a:r>
              <a:rPr sz="6050" spc="114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6050" spc="-10" dirty="0">
                <a:solidFill>
                  <a:srgbClr val="2A2B2F"/>
                </a:solidFill>
                <a:latin typeface="Georgia"/>
                <a:cs typeface="Georgia"/>
              </a:rPr>
              <a:t>anomalies.</a:t>
            </a:r>
            <a:endParaRPr sz="6050">
              <a:latin typeface="Georgia"/>
              <a:cs typeface="Georgia"/>
            </a:endParaRPr>
          </a:p>
          <a:p>
            <a:pPr marL="12700" marR="5080">
              <a:lnSpc>
                <a:spcPct val="107400"/>
              </a:lnSpc>
              <a:spcBef>
                <a:spcPts val="5"/>
              </a:spcBef>
            </a:pPr>
            <a:r>
              <a:rPr sz="6050" spc="55" dirty="0">
                <a:solidFill>
                  <a:srgbClr val="2A2B2F"/>
                </a:solidFill>
                <a:latin typeface="Georgia"/>
                <a:cs typeface="Georgia"/>
              </a:rPr>
              <a:t>The</a:t>
            </a:r>
            <a:r>
              <a:rPr sz="6050" spc="-2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6050" spc="-95" dirty="0">
                <a:solidFill>
                  <a:srgbClr val="2A2B2F"/>
                </a:solidFill>
                <a:latin typeface="Georgia"/>
                <a:cs typeface="Georgia"/>
              </a:rPr>
              <a:t>"Invisible"</a:t>
            </a:r>
            <a:r>
              <a:rPr sz="6050" spc="-15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6050" dirty="0">
                <a:solidFill>
                  <a:srgbClr val="2A2B2F"/>
                </a:solidFill>
                <a:latin typeface="Georgia"/>
                <a:cs typeface="Georgia"/>
              </a:rPr>
              <a:t>Fraud:</a:t>
            </a:r>
            <a:r>
              <a:rPr sz="6050" spc="-2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6050" dirty="0">
                <a:solidFill>
                  <a:srgbClr val="2A2B2F"/>
                </a:solidFill>
                <a:latin typeface="Georgia"/>
                <a:cs typeface="Georgia"/>
              </a:rPr>
              <a:t>Humans</a:t>
            </a:r>
            <a:r>
              <a:rPr sz="6050" spc="-15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6050" spc="60" dirty="0">
                <a:solidFill>
                  <a:srgbClr val="2A2B2F"/>
                </a:solidFill>
                <a:latin typeface="Georgia"/>
                <a:cs typeface="Georgia"/>
              </a:rPr>
              <a:t>cannot</a:t>
            </a:r>
            <a:r>
              <a:rPr sz="6050" spc="-2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6050" spc="45" dirty="0">
                <a:solidFill>
                  <a:srgbClr val="2A2B2F"/>
                </a:solidFill>
                <a:latin typeface="Georgia"/>
                <a:cs typeface="Georgia"/>
              </a:rPr>
              <a:t>spot </a:t>
            </a:r>
            <a:r>
              <a:rPr sz="6050" spc="70" dirty="0">
                <a:solidFill>
                  <a:srgbClr val="2A2B2F"/>
                </a:solidFill>
                <a:latin typeface="Georgia"/>
                <a:cs typeface="Georgia"/>
              </a:rPr>
              <a:t>distributed</a:t>
            </a:r>
            <a:r>
              <a:rPr sz="6050" spc="12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6050" spc="80" dirty="0">
                <a:solidFill>
                  <a:srgbClr val="2A2B2F"/>
                </a:solidFill>
                <a:latin typeface="Georgia"/>
                <a:cs typeface="Georgia"/>
              </a:rPr>
              <a:t>patterns</a:t>
            </a:r>
            <a:r>
              <a:rPr sz="6050" spc="13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6050" spc="100" dirty="0">
                <a:solidFill>
                  <a:srgbClr val="2A2B2F"/>
                </a:solidFill>
                <a:latin typeface="Georgia"/>
                <a:cs typeface="Georgia"/>
              </a:rPr>
              <a:t>across</a:t>
            </a:r>
            <a:r>
              <a:rPr sz="6050" spc="13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6050" spc="50" dirty="0">
                <a:solidFill>
                  <a:srgbClr val="2A2B2F"/>
                </a:solidFill>
                <a:latin typeface="Georgia"/>
                <a:cs typeface="Georgia"/>
              </a:rPr>
              <a:t>thousands</a:t>
            </a:r>
            <a:r>
              <a:rPr sz="6050" spc="13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6050" spc="-25" dirty="0">
                <a:solidFill>
                  <a:srgbClr val="2A2B2F"/>
                </a:solidFill>
                <a:latin typeface="Georgia"/>
                <a:cs typeface="Georgia"/>
              </a:rPr>
              <a:t>of </a:t>
            </a:r>
            <a:r>
              <a:rPr sz="6050" spc="50" dirty="0">
                <a:solidFill>
                  <a:srgbClr val="2A2B2F"/>
                </a:solidFill>
                <a:latin typeface="Georgia"/>
                <a:cs typeface="Georgia"/>
              </a:rPr>
              <a:t>pincodes.</a:t>
            </a:r>
            <a:endParaRPr sz="6050">
              <a:latin typeface="Georgia"/>
              <a:cs typeface="Georgia"/>
            </a:endParaRPr>
          </a:p>
          <a:p>
            <a:pPr marL="12700" marR="1847214">
              <a:lnSpc>
                <a:spcPct val="107400"/>
              </a:lnSpc>
            </a:pPr>
            <a:r>
              <a:rPr sz="6050" dirty="0">
                <a:solidFill>
                  <a:srgbClr val="2A2B2F"/>
                </a:solidFill>
                <a:latin typeface="Georgia"/>
                <a:cs typeface="Georgia"/>
              </a:rPr>
              <a:t>Latency:</a:t>
            </a:r>
            <a:r>
              <a:rPr sz="6050" spc="175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6050" spc="145" dirty="0">
                <a:solidFill>
                  <a:srgbClr val="2A2B2F"/>
                </a:solidFill>
                <a:latin typeface="Georgia"/>
                <a:cs typeface="Georgia"/>
              </a:rPr>
              <a:t>Current</a:t>
            </a:r>
            <a:r>
              <a:rPr sz="6050" spc="18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6050" spc="50" dirty="0">
                <a:solidFill>
                  <a:srgbClr val="2A2B2F"/>
                </a:solidFill>
                <a:latin typeface="Georgia"/>
                <a:cs typeface="Georgia"/>
              </a:rPr>
              <a:t>vigilance</a:t>
            </a:r>
            <a:r>
              <a:rPr sz="6050" spc="175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6050" dirty="0">
                <a:solidFill>
                  <a:srgbClr val="2A2B2F"/>
                </a:solidFill>
                <a:latin typeface="Georgia"/>
                <a:cs typeface="Georgia"/>
              </a:rPr>
              <a:t>is</a:t>
            </a:r>
            <a:r>
              <a:rPr sz="6050" spc="175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6050" spc="75" dirty="0">
                <a:solidFill>
                  <a:srgbClr val="2A2B2F"/>
                </a:solidFill>
                <a:latin typeface="Georgia"/>
                <a:cs typeface="Georgia"/>
              </a:rPr>
              <a:t>reactive </a:t>
            </a:r>
            <a:r>
              <a:rPr sz="6050" spc="95" dirty="0">
                <a:solidFill>
                  <a:srgbClr val="2A2B2F"/>
                </a:solidFill>
                <a:latin typeface="Georgia"/>
                <a:cs typeface="Georgia"/>
              </a:rPr>
              <a:t>(post-</a:t>
            </a:r>
            <a:r>
              <a:rPr sz="6050" spc="-10" dirty="0">
                <a:solidFill>
                  <a:srgbClr val="2A2B2F"/>
                </a:solidFill>
                <a:latin typeface="Georgia"/>
                <a:cs typeface="Georgia"/>
              </a:rPr>
              <a:t>audit);</a:t>
            </a:r>
            <a:r>
              <a:rPr sz="6050" spc="-25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6050" spc="225" dirty="0">
                <a:solidFill>
                  <a:srgbClr val="2A2B2F"/>
                </a:solidFill>
                <a:latin typeface="Georgia"/>
                <a:cs typeface="Georgia"/>
              </a:rPr>
              <a:t>real-</a:t>
            </a:r>
            <a:r>
              <a:rPr sz="6050" spc="55" dirty="0">
                <a:solidFill>
                  <a:srgbClr val="2A2B2F"/>
                </a:solidFill>
                <a:latin typeface="Georgia"/>
                <a:cs typeface="Georgia"/>
              </a:rPr>
              <a:t>time</a:t>
            </a:r>
            <a:r>
              <a:rPr sz="6050" spc="-2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6050" spc="75" dirty="0">
                <a:solidFill>
                  <a:srgbClr val="2A2B2F"/>
                </a:solidFill>
                <a:latin typeface="Georgia"/>
                <a:cs typeface="Georgia"/>
              </a:rPr>
              <a:t>prevention</a:t>
            </a:r>
            <a:r>
              <a:rPr sz="6050" spc="-2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6050" spc="-25" dirty="0">
                <a:solidFill>
                  <a:srgbClr val="2A2B2F"/>
                </a:solidFill>
                <a:latin typeface="Georgia"/>
                <a:cs typeface="Georgia"/>
              </a:rPr>
              <a:t>is </a:t>
            </a:r>
            <a:r>
              <a:rPr sz="6050" spc="-10" dirty="0">
                <a:solidFill>
                  <a:srgbClr val="2A2B2F"/>
                </a:solidFill>
                <a:latin typeface="Georgia"/>
                <a:cs typeface="Georgia"/>
              </a:rPr>
              <a:t>missing.</a:t>
            </a:r>
            <a:endParaRPr sz="60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1431" y="988477"/>
            <a:ext cx="9571990" cy="5918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718945" algn="l"/>
                <a:tab pos="7321550" algn="l"/>
              </a:tabLst>
            </a:pPr>
            <a:r>
              <a:rPr sz="3700" b="1" spc="325" dirty="0">
                <a:latin typeface="Trebuchet MS"/>
                <a:cs typeface="Trebuchet MS"/>
              </a:rPr>
              <a:t>H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204" dirty="0">
                <a:latin typeface="Trebuchet MS"/>
                <a:cs typeface="Trebuchet MS"/>
              </a:rPr>
              <a:t>O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240" dirty="0">
                <a:latin typeface="Trebuchet MS"/>
                <a:cs typeface="Trebuchet MS"/>
              </a:rPr>
              <a:t>W</a:t>
            </a:r>
            <a:r>
              <a:rPr sz="3700" b="1" dirty="0">
                <a:latin typeface="Trebuchet MS"/>
                <a:cs typeface="Trebuchet MS"/>
              </a:rPr>
              <a:t>	</a:t>
            </a:r>
            <a:r>
              <a:rPr sz="3700" b="1" spc="350" dirty="0">
                <a:latin typeface="Trebuchet MS"/>
                <a:cs typeface="Trebuchet MS"/>
              </a:rPr>
              <a:t>A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350" dirty="0">
                <a:latin typeface="Trebuchet MS"/>
                <a:cs typeface="Trebuchet MS"/>
              </a:rPr>
              <a:t>A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285" dirty="0">
                <a:latin typeface="Trebuchet MS"/>
                <a:cs typeface="Trebuchet MS"/>
              </a:rPr>
              <a:t>D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325" dirty="0">
                <a:latin typeface="Trebuchet MS"/>
                <a:cs typeface="Trebuchet MS"/>
              </a:rPr>
              <a:t>H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350" dirty="0">
                <a:latin typeface="Trebuchet MS"/>
                <a:cs typeface="Trebuchet MS"/>
              </a:rPr>
              <a:t>A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350" dirty="0">
                <a:latin typeface="Trebuchet MS"/>
                <a:cs typeface="Trebuchet MS"/>
              </a:rPr>
              <a:t>A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315" dirty="0">
                <a:latin typeface="Trebuchet MS"/>
                <a:cs typeface="Trebuchet MS"/>
              </a:rPr>
              <a:t>R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320" dirty="0">
                <a:latin typeface="Trebuchet MS"/>
                <a:cs typeface="Trebuchet MS"/>
              </a:rPr>
              <a:t>G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175" dirty="0">
                <a:latin typeface="Trebuchet MS"/>
                <a:cs typeface="Trebuchet MS"/>
              </a:rPr>
              <a:t>U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350" dirty="0">
                <a:latin typeface="Trebuchet MS"/>
                <a:cs typeface="Trebuchet MS"/>
              </a:rPr>
              <a:t>A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315" dirty="0">
                <a:latin typeface="Trebuchet MS"/>
                <a:cs typeface="Trebuchet MS"/>
              </a:rPr>
              <a:t>R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235" dirty="0">
                <a:latin typeface="Trebuchet MS"/>
                <a:cs typeface="Trebuchet MS"/>
              </a:rPr>
              <a:t>D</a:t>
            </a:r>
            <a:r>
              <a:rPr sz="3700" b="1" dirty="0">
                <a:latin typeface="Trebuchet MS"/>
                <a:cs typeface="Trebuchet MS"/>
              </a:rPr>
              <a:t>	</a:t>
            </a:r>
            <a:r>
              <a:rPr sz="3700" b="1" spc="290" dirty="0">
                <a:latin typeface="Trebuchet MS"/>
                <a:cs typeface="Trebuchet MS"/>
              </a:rPr>
              <a:t>W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204" dirty="0">
                <a:latin typeface="Trebuchet MS"/>
                <a:cs typeface="Trebuchet MS"/>
              </a:rPr>
              <a:t>O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315" dirty="0">
                <a:latin typeface="Trebuchet MS"/>
                <a:cs typeface="Trebuchet MS"/>
              </a:rPr>
              <a:t>R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365" dirty="0">
                <a:latin typeface="Trebuchet MS"/>
                <a:cs typeface="Trebuchet MS"/>
              </a:rPr>
              <a:t>K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625" dirty="0">
                <a:latin typeface="Trebuchet MS"/>
                <a:cs typeface="Trebuchet MS"/>
              </a:rPr>
              <a:t>S</a:t>
            </a:r>
            <a:endParaRPr sz="37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755998"/>
            <a:ext cx="9144635" cy="31750"/>
          </a:xfrm>
          <a:custGeom>
            <a:avLst/>
            <a:gdLst/>
            <a:ahLst/>
            <a:cxnLst/>
            <a:rect l="l" t="t" r="r" b="b"/>
            <a:pathLst>
              <a:path w="9144635" h="31750">
                <a:moveTo>
                  <a:pt x="9144008" y="9524"/>
                </a:moveTo>
                <a:lnTo>
                  <a:pt x="0" y="31220"/>
                </a:lnTo>
                <a:lnTo>
                  <a:pt x="0" y="21695"/>
                </a:lnTo>
                <a:lnTo>
                  <a:pt x="9143985" y="0"/>
                </a:lnTo>
                <a:lnTo>
                  <a:pt x="9144008" y="9524"/>
                </a:lnTo>
                <a:close/>
              </a:path>
            </a:pathLst>
          </a:custGeom>
          <a:solidFill>
            <a:srgbClr val="2A2B2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0583" y="2502831"/>
            <a:ext cx="248382" cy="24838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0583" y="4284335"/>
            <a:ext cx="248382" cy="24838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0583" y="6065839"/>
            <a:ext cx="248382" cy="24838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60583" y="7847342"/>
            <a:ext cx="248382" cy="24838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697243" y="2105857"/>
            <a:ext cx="15055850" cy="71520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961514">
              <a:lnSpc>
                <a:spcPct val="107200"/>
              </a:lnSpc>
              <a:spcBef>
                <a:spcPts val="105"/>
              </a:spcBef>
            </a:pPr>
            <a:r>
              <a:rPr sz="5450" dirty="0">
                <a:solidFill>
                  <a:srgbClr val="2A2B2F"/>
                </a:solidFill>
                <a:latin typeface="Georgia"/>
                <a:cs typeface="Georgia"/>
              </a:rPr>
              <a:t>Automated</a:t>
            </a:r>
            <a:r>
              <a:rPr sz="5450" spc="245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5450" dirty="0">
                <a:solidFill>
                  <a:srgbClr val="2A2B2F"/>
                </a:solidFill>
                <a:latin typeface="Georgia"/>
                <a:cs typeface="Georgia"/>
              </a:rPr>
              <a:t>Pipeline:</a:t>
            </a:r>
            <a:r>
              <a:rPr sz="5450" spc="24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5450" dirty="0">
                <a:solidFill>
                  <a:srgbClr val="2A2B2F"/>
                </a:solidFill>
                <a:latin typeface="Georgia"/>
                <a:cs typeface="Georgia"/>
              </a:rPr>
              <a:t>Ingests</a:t>
            </a:r>
            <a:r>
              <a:rPr sz="5450" spc="245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5450" dirty="0">
                <a:solidFill>
                  <a:srgbClr val="2A2B2F"/>
                </a:solidFill>
                <a:latin typeface="Georgia"/>
                <a:cs typeface="Georgia"/>
              </a:rPr>
              <a:t>Enrolment</a:t>
            </a:r>
            <a:r>
              <a:rPr sz="5450" spc="24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5450" spc="595" dirty="0">
                <a:solidFill>
                  <a:srgbClr val="2A2B2F"/>
                </a:solidFill>
                <a:latin typeface="Georgia"/>
                <a:cs typeface="Georgia"/>
              </a:rPr>
              <a:t>&amp; </a:t>
            </a:r>
            <a:r>
              <a:rPr sz="5450" dirty="0">
                <a:solidFill>
                  <a:srgbClr val="2A2B2F"/>
                </a:solidFill>
                <a:latin typeface="Georgia"/>
                <a:cs typeface="Georgia"/>
              </a:rPr>
              <a:t>Update</a:t>
            </a:r>
            <a:r>
              <a:rPr sz="5450" spc="5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5450" dirty="0">
                <a:solidFill>
                  <a:srgbClr val="2A2B2F"/>
                </a:solidFill>
                <a:latin typeface="Georgia"/>
                <a:cs typeface="Georgia"/>
              </a:rPr>
              <a:t>data</a:t>
            </a:r>
            <a:r>
              <a:rPr sz="5450" spc="45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5450" dirty="0">
                <a:solidFill>
                  <a:srgbClr val="2A2B2F"/>
                </a:solidFill>
                <a:latin typeface="Georgia"/>
                <a:cs typeface="Georgia"/>
              </a:rPr>
              <a:t>in</a:t>
            </a:r>
            <a:r>
              <a:rPr sz="5450" spc="5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5450" spc="200" dirty="0">
                <a:solidFill>
                  <a:srgbClr val="2A2B2F"/>
                </a:solidFill>
                <a:latin typeface="Georgia"/>
                <a:cs typeface="Georgia"/>
              </a:rPr>
              <a:t>real-</a:t>
            </a:r>
            <a:r>
              <a:rPr sz="5450" spc="-10" dirty="0">
                <a:solidFill>
                  <a:srgbClr val="2A2B2F"/>
                </a:solidFill>
                <a:latin typeface="Georgia"/>
                <a:cs typeface="Georgia"/>
              </a:rPr>
              <a:t>time.</a:t>
            </a:r>
            <a:endParaRPr sz="5450">
              <a:latin typeface="Georgia"/>
              <a:cs typeface="Georgia"/>
            </a:endParaRPr>
          </a:p>
          <a:p>
            <a:pPr marL="12700" marR="5080">
              <a:lnSpc>
                <a:spcPct val="107200"/>
              </a:lnSpc>
            </a:pPr>
            <a:r>
              <a:rPr sz="5450" spc="60" dirty="0">
                <a:solidFill>
                  <a:srgbClr val="2A2B2F"/>
                </a:solidFill>
                <a:latin typeface="Georgia"/>
                <a:cs typeface="Georgia"/>
              </a:rPr>
              <a:t>Contextual</a:t>
            </a:r>
            <a:r>
              <a:rPr sz="5450" spc="175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5450" dirty="0">
                <a:solidFill>
                  <a:srgbClr val="2A2B2F"/>
                </a:solidFill>
                <a:latin typeface="Georgia"/>
                <a:cs typeface="Georgia"/>
              </a:rPr>
              <a:t>Intelligence:</a:t>
            </a:r>
            <a:r>
              <a:rPr sz="5450" spc="175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5450" spc="65" dirty="0">
                <a:solidFill>
                  <a:srgbClr val="2A2B2F"/>
                </a:solidFill>
                <a:latin typeface="Georgia"/>
                <a:cs typeface="Georgia"/>
              </a:rPr>
              <a:t>Calculates</a:t>
            </a:r>
            <a:r>
              <a:rPr sz="5450" spc="17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5450" spc="60" dirty="0">
                <a:solidFill>
                  <a:srgbClr val="2A2B2F"/>
                </a:solidFill>
                <a:latin typeface="Georgia"/>
                <a:cs typeface="Georgia"/>
              </a:rPr>
              <a:t>the</a:t>
            </a:r>
            <a:r>
              <a:rPr sz="5450" spc="175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5450" spc="-90" dirty="0">
                <a:solidFill>
                  <a:srgbClr val="2A2B2F"/>
                </a:solidFill>
                <a:latin typeface="Georgia"/>
                <a:cs typeface="Georgia"/>
              </a:rPr>
              <a:t>"Normal" </a:t>
            </a:r>
            <a:r>
              <a:rPr sz="5450" dirty="0">
                <a:solidFill>
                  <a:srgbClr val="2A2B2F"/>
                </a:solidFill>
                <a:latin typeface="Georgia"/>
                <a:cs typeface="Georgia"/>
              </a:rPr>
              <a:t>activity</a:t>
            </a:r>
            <a:r>
              <a:rPr sz="5450" spc="22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5450" dirty="0">
                <a:solidFill>
                  <a:srgbClr val="2A2B2F"/>
                </a:solidFill>
                <a:latin typeface="Georgia"/>
                <a:cs typeface="Georgia"/>
              </a:rPr>
              <a:t>level</a:t>
            </a:r>
            <a:r>
              <a:rPr sz="5450" spc="229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5450" spc="90" dirty="0">
                <a:solidFill>
                  <a:srgbClr val="2A2B2F"/>
                </a:solidFill>
                <a:latin typeface="Georgia"/>
                <a:cs typeface="Georgia"/>
              </a:rPr>
              <a:t>for</a:t>
            </a:r>
            <a:r>
              <a:rPr sz="5450" spc="229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5450" spc="95" dirty="0">
                <a:solidFill>
                  <a:srgbClr val="2A2B2F"/>
                </a:solidFill>
                <a:latin typeface="Georgia"/>
                <a:cs typeface="Georgia"/>
              </a:rPr>
              <a:t>every</a:t>
            </a:r>
            <a:r>
              <a:rPr sz="5450" spc="229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5450" spc="-10" dirty="0">
                <a:solidFill>
                  <a:srgbClr val="2A2B2F"/>
                </a:solidFill>
                <a:latin typeface="Georgia"/>
                <a:cs typeface="Georgia"/>
              </a:rPr>
              <a:t>District.</a:t>
            </a:r>
            <a:endParaRPr sz="5450">
              <a:latin typeface="Georgia"/>
              <a:cs typeface="Georgia"/>
            </a:endParaRPr>
          </a:p>
          <a:p>
            <a:pPr marL="12700" marR="427355">
              <a:lnSpc>
                <a:spcPct val="107200"/>
              </a:lnSpc>
              <a:spcBef>
                <a:spcPts val="5"/>
              </a:spcBef>
            </a:pPr>
            <a:r>
              <a:rPr sz="5450" spc="-265" dirty="0">
                <a:solidFill>
                  <a:srgbClr val="2A2B2F"/>
                </a:solidFill>
                <a:latin typeface="Georgia"/>
                <a:cs typeface="Georgia"/>
              </a:rPr>
              <a:t>AI</a:t>
            </a:r>
            <a:r>
              <a:rPr sz="5450" spc="3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5450" dirty="0">
                <a:solidFill>
                  <a:srgbClr val="2A2B2F"/>
                </a:solidFill>
                <a:latin typeface="Georgia"/>
                <a:cs typeface="Georgia"/>
              </a:rPr>
              <a:t>Engine:</a:t>
            </a:r>
            <a:r>
              <a:rPr sz="5450" spc="25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5450" dirty="0">
                <a:solidFill>
                  <a:srgbClr val="2A2B2F"/>
                </a:solidFill>
                <a:latin typeface="Georgia"/>
                <a:cs typeface="Georgia"/>
              </a:rPr>
              <a:t>Uses</a:t>
            </a:r>
            <a:r>
              <a:rPr sz="5450" spc="3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5450" dirty="0">
                <a:solidFill>
                  <a:srgbClr val="2A2B2F"/>
                </a:solidFill>
                <a:latin typeface="Georgia"/>
                <a:cs typeface="Georgia"/>
              </a:rPr>
              <a:t>Isolation</a:t>
            </a:r>
            <a:r>
              <a:rPr sz="5450" spc="25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5450" spc="55" dirty="0">
                <a:solidFill>
                  <a:srgbClr val="2A2B2F"/>
                </a:solidFill>
                <a:latin typeface="Georgia"/>
                <a:cs typeface="Georgia"/>
              </a:rPr>
              <a:t>Forest</a:t>
            </a:r>
            <a:r>
              <a:rPr sz="5450" spc="3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5450" spc="-10" dirty="0">
                <a:solidFill>
                  <a:srgbClr val="2A2B2F"/>
                </a:solidFill>
                <a:latin typeface="Georgia"/>
                <a:cs typeface="Georgia"/>
              </a:rPr>
              <a:t>(Unsupervised </a:t>
            </a:r>
            <a:r>
              <a:rPr sz="5450" dirty="0">
                <a:solidFill>
                  <a:srgbClr val="2A2B2F"/>
                </a:solidFill>
                <a:latin typeface="Georgia"/>
                <a:cs typeface="Georgia"/>
              </a:rPr>
              <a:t>Learning)</a:t>
            </a:r>
            <a:r>
              <a:rPr sz="5450" spc="22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5450" dirty="0">
                <a:solidFill>
                  <a:srgbClr val="2A2B2F"/>
                </a:solidFill>
                <a:latin typeface="Georgia"/>
                <a:cs typeface="Georgia"/>
              </a:rPr>
              <a:t>to</a:t>
            </a:r>
            <a:r>
              <a:rPr sz="5450" spc="229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5450" dirty="0">
                <a:solidFill>
                  <a:srgbClr val="2A2B2F"/>
                </a:solidFill>
                <a:latin typeface="Georgia"/>
                <a:cs typeface="Georgia"/>
              </a:rPr>
              <a:t>mathematically</a:t>
            </a:r>
            <a:r>
              <a:rPr sz="5450" spc="235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5450" spc="45" dirty="0">
                <a:solidFill>
                  <a:srgbClr val="2A2B2F"/>
                </a:solidFill>
                <a:latin typeface="Georgia"/>
                <a:cs typeface="Georgia"/>
              </a:rPr>
              <a:t>identify</a:t>
            </a:r>
            <a:r>
              <a:rPr sz="5450" spc="229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5450" spc="40" dirty="0">
                <a:solidFill>
                  <a:srgbClr val="2A2B2F"/>
                </a:solidFill>
                <a:latin typeface="Georgia"/>
                <a:cs typeface="Georgia"/>
              </a:rPr>
              <a:t>outliers.</a:t>
            </a:r>
            <a:endParaRPr sz="5450">
              <a:latin typeface="Georgia"/>
              <a:cs typeface="Georgia"/>
            </a:endParaRPr>
          </a:p>
          <a:p>
            <a:pPr marL="12700" marR="1703070">
              <a:lnSpc>
                <a:spcPct val="107200"/>
              </a:lnSpc>
            </a:pPr>
            <a:r>
              <a:rPr sz="5450" dirty="0">
                <a:solidFill>
                  <a:srgbClr val="2A2B2F"/>
                </a:solidFill>
                <a:latin typeface="Georgia"/>
                <a:cs typeface="Georgia"/>
              </a:rPr>
              <a:t>Result:</a:t>
            </a:r>
            <a:r>
              <a:rPr sz="5450" spc="4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5450" dirty="0">
                <a:solidFill>
                  <a:srgbClr val="2A2B2F"/>
                </a:solidFill>
                <a:latin typeface="Georgia"/>
                <a:cs typeface="Georgia"/>
              </a:rPr>
              <a:t>Flags</a:t>
            </a:r>
            <a:r>
              <a:rPr sz="5450" spc="4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5450" spc="60" dirty="0">
                <a:solidFill>
                  <a:srgbClr val="2A2B2F"/>
                </a:solidFill>
                <a:latin typeface="Georgia"/>
                <a:cs typeface="Georgia"/>
              </a:rPr>
              <a:t>suspicious</a:t>
            </a:r>
            <a:r>
              <a:rPr sz="5450" spc="4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5450" spc="45" dirty="0">
                <a:solidFill>
                  <a:srgbClr val="2A2B2F"/>
                </a:solidFill>
                <a:latin typeface="Georgia"/>
                <a:cs typeface="Georgia"/>
              </a:rPr>
              <a:t>Pincodes </a:t>
            </a:r>
            <a:r>
              <a:rPr sz="5450" spc="-10" dirty="0">
                <a:solidFill>
                  <a:srgbClr val="2A2B2F"/>
                </a:solidFill>
                <a:latin typeface="Georgia"/>
                <a:cs typeface="Georgia"/>
              </a:rPr>
              <a:t>instantly </a:t>
            </a:r>
            <a:r>
              <a:rPr sz="5450" spc="55" dirty="0">
                <a:solidFill>
                  <a:srgbClr val="2A2B2F"/>
                </a:solidFill>
                <a:latin typeface="Georgia"/>
                <a:cs typeface="Georgia"/>
              </a:rPr>
              <a:t>without</a:t>
            </a:r>
            <a:r>
              <a:rPr sz="5450" spc="11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5450" dirty="0">
                <a:solidFill>
                  <a:srgbClr val="2A2B2F"/>
                </a:solidFill>
                <a:latin typeface="Georgia"/>
                <a:cs typeface="Georgia"/>
              </a:rPr>
              <a:t>human</a:t>
            </a:r>
            <a:r>
              <a:rPr sz="5450" spc="12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5450" spc="35" dirty="0">
                <a:solidFill>
                  <a:srgbClr val="2A2B2F"/>
                </a:solidFill>
                <a:latin typeface="Georgia"/>
                <a:cs typeface="Georgia"/>
              </a:rPr>
              <a:t>intervention.</a:t>
            </a:r>
            <a:endParaRPr sz="54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755998"/>
            <a:ext cx="9144635" cy="31750"/>
          </a:xfrm>
          <a:custGeom>
            <a:avLst/>
            <a:gdLst/>
            <a:ahLst/>
            <a:cxnLst/>
            <a:rect l="l" t="t" r="r" b="b"/>
            <a:pathLst>
              <a:path w="9144635" h="31750">
                <a:moveTo>
                  <a:pt x="9144008" y="9524"/>
                </a:moveTo>
                <a:lnTo>
                  <a:pt x="0" y="31220"/>
                </a:lnTo>
                <a:lnTo>
                  <a:pt x="0" y="21695"/>
                </a:lnTo>
                <a:lnTo>
                  <a:pt x="9143985" y="0"/>
                </a:lnTo>
                <a:lnTo>
                  <a:pt x="9144008" y="9524"/>
                </a:lnTo>
                <a:close/>
              </a:path>
            </a:pathLst>
          </a:custGeom>
          <a:solidFill>
            <a:srgbClr val="2A2B2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9475969" y="2603332"/>
            <a:ext cx="7793355" cy="5083175"/>
            <a:chOff x="9475969" y="2603332"/>
            <a:chExt cx="7793355" cy="5083175"/>
          </a:xfrm>
        </p:grpSpPr>
        <p:sp>
          <p:nvSpPr>
            <p:cNvPr id="4" name="object 4"/>
            <p:cNvSpPr/>
            <p:nvPr/>
          </p:nvSpPr>
          <p:spPr>
            <a:xfrm>
              <a:off x="9485494" y="2612857"/>
              <a:ext cx="7774305" cy="5064125"/>
            </a:xfrm>
            <a:custGeom>
              <a:avLst/>
              <a:gdLst/>
              <a:ahLst/>
              <a:cxnLst/>
              <a:rect l="l" t="t" r="r" b="b"/>
              <a:pathLst>
                <a:path w="7774305" h="5064125">
                  <a:moveTo>
                    <a:pt x="0" y="0"/>
                  </a:moveTo>
                  <a:lnTo>
                    <a:pt x="7773738" y="0"/>
                  </a:lnTo>
                  <a:lnTo>
                    <a:pt x="7773738" y="5063716"/>
                  </a:lnTo>
                  <a:lnTo>
                    <a:pt x="0" y="5063716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2A2B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96193" y="2984958"/>
              <a:ext cx="6553199" cy="431482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29870" y="705789"/>
            <a:ext cx="15861665" cy="5918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399280" algn="l"/>
                <a:tab pos="7352030" algn="l"/>
                <a:tab pos="8665210" algn="l"/>
                <a:tab pos="12901295" algn="l"/>
              </a:tabLst>
            </a:pPr>
            <a:r>
              <a:rPr sz="3700" b="1" spc="675" dirty="0">
                <a:latin typeface="Trebuchet MS"/>
                <a:cs typeface="Trebuchet MS"/>
              </a:rPr>
              <a:t>S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250" dirty="0">
                <a:latin typeface="Trebuchet MS"/>
                <a:cs typeface="Trebuchet MS"/>
              </a:rPr>
              <a:t>E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235" dirty="0">
                <a:latin typeface="Trebuchet MS"/>
                <a:cs typeface="Trebuchet MS"/>
              </a:rPr>
              <a:t>P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350" dirty="0">
                <a:latin typeface="Trebuchet MS"/>
                <a:cs typeface="Trebuchet MS"/>
              </a:rPr>
              <a:t>A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315" dirty="0">
                <a:latin typeface="Trebuchet MS"/>
                <a:cs typeface="Trebuchet MS"/>
              </a:rPr>
              <a:t>R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350" dirty="0">
                <a:latin typeface="Trebuchet MS"/>
                <a:cs typeface="Trebuchet MS"/>
              </a:rPr>
              <a:t>A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dirty="0">
                <a:latin typeface="Trebuchet MS"/>
                <a:cs typeface="Trebuchet MS"/>
              </a:rPr>
              <a:t>T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110" dirty="0">
                <a:latin typeface="Trebuchet MS"/>
                <a:cs typeface="Trebuchet MS"/>
              </a:rPr>
              <a:t>I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420" dirty="0">
                <a:latin typeface="Trebuchet MS"/>
                <a:cs typeface="Trebuchet MS"/>
              </a:rPr>
              <a:t>N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270" dirty="0">
                <a:latin typeface="Trebuchet MS"/>
                <a:cs typeface="Trebuchet MS"/>
              </a:rPr>
              <a:t>G</a:t>
            </a:r>
            <a:r>
              <a:rPr sz="3700" b="1" dirty="0">
                <a:latin typeface="Trebuchet MS"/>
                <a:cs typeface="Trebuchet MS"/>
              </a:rPr>
              <a:t>	</a:t>
            </a:r>
            <a:r>
              <a:rPr sz="3700" b="1" spc="420" dirty="0">
                <a:latin typeface="Trebuchet MS"/>
                <a:cs typeface="Trebuchet MS"/>
              </a:rPr>
              <a:t>N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204" dirty="0">
                <a:latin typeface="Trebuchet MS"/>
                <a:cs typeface="Trebuchet MS"/>
              </a:rPr>
              <a:t>O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315" dirty="0">
                <a:latin typeface="Trebuchet MS"/>
                <a:cs typeface="Trebuchet MS"/>
              </a:rPr>
              <a:t>R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635" dirty="0">
                <a:latin typeface="Trebuchet MS"/>
                <a:cs typeface="Trebuchet MS"/>
              </a:rPr>
              <a:t>M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350" dirty="0">
                <a:latin typeface="Trebuchet MS"/>
                <a:cs typeface="Trebuchet MS"/>
              </a:rPr>
              <a:t>A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30" dirty="0">
                <a:latin typeface="Trebuchet MS"/>
                <a:cs typeface="Trebuchet MS"/>
              </a:rPr>
              <a:t>L</a:t>
            </a:r>
            <a:r>
              <a:rPr sz="3700" b="1" dirty="0">
                <a:latin typeface="Trebuchet MS"/>
                <a:cs typeface="Trebuchet MS"/>
              </a:rPr>
              <a:t>	</a:t>
            </a:r>
            <a:r>
              <a:rPr sz="3700" b="1" spc="295" dirty="0">
                <a:latin typeface="Trebuchet MS"/>
                <a:cs typeface="Trebuchet MS"/>
              </a:rPr>
              <a:t>V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675" dirty="0">
                <a:latin typeface="Trebuchet MS"/>
                <a:cs typeface="Trebuchet MS"/>
              </a:rPr>
              <a:t>S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-420" dirty="0">
                <a:latin typeface="Trebuchet MS"/>
                <a:cs typeface="Trebuchet MS"/>
              </a:rPr>
              <a:t>.</a:t>
            </a:r>
            <a:r>
              <a:rPr sz="3700" b="1" dirty="0">
                <a:latin typeface="Trebuchet MS"/>
                <a:cs typeface="Trebuchet MS"/>
              </a:rPr>
              <a:t>	</a:t>
            </a:r>
            <a:r>
              <a:rPr sz="3700" b="1" spc="675" dirty="0">
                <a:latin typeface="Trebuchet MS"/>
                <a:cs typeface="Trebuchet MS"/>
              </a:rPr>
              <a:t>S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175" dirty="0">
                <a:latin typeface="Trebuchet MS"/>
                <a:cs typeface="Trebuchet MS"/>
              </a:rPr>
              <a:t>U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675" dirty="0">
                <a:latin typeface="Trebuchet MS"/>
                <a:cs typeface="Trebuchet MS"/>
              </a:rPr>
              <a:t>S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235" dirty="0">
                <a:latin typeface="Trebuchet MS"/>
                <a:cs typeface="Trebuchet MS"/>
              </a:rPr>
              <a:t>P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110" dirty="0">
                <a:latin typeface="Trebuchet MS"/>
                <a:cs typeface="Trebuchet MS"/>
              </a:rPr>
              <a:t>I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380" dirty="0">
                <a:latin typeface="Trebuchet MS"/>
                <a:cs typeface="Trebuchet MS"/>
              </a:rPr>
              <a:t>C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110" dirty="0">
                <a:latin typeface="Trebuchet MS"/>
                <a:cs typeface="Trebuchet MS"/>
              </a:rPr>
              <a:t>I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204" dirty="0">
                <a:latin typeface="Trebuchet MS"/>
                <a:cs typeface="Trebuchet MS"/>
              </a:rPr>
              <a:t>O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175" dirty="0">
                <a:latin typeface="Trebuchet MS"/>
                <a:cs typeface="Trebuchet MS"/>
              </a:rPr>
              <a:t>U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625" dirty="0">
                <a:latin typeface="Trebuchet MS"/>
                <a:cs typeface="Trebuchet MS"/>
              </a:rPr>
              <a:t>S</a:t>
            </a:r>
            <a:r>
              <a:rPr sz="3700" b="1" dirty="0">
                <a:latin typeface="Trebuchet MS"/>
                <a:cs typeface="Trebuchet MS"/>
              </a:rPr>
              <a:t>	</a:t>
            </a:r>
            <a:r>
              <a:rPr sz="3700" b="1" spc="350" dirty="0">
                <a:latin typeface="Trebuchet MS"/>
                <a:cs typeface="Trebuchet MS"/>
              </a:rPr>
              <a:t>A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380" dirty="0">
                <a:latin typeface="Trebuchet MS"/>
                <a:cs typeface="Trebuchet MS"/>
              </a:rPr>
              <a:t>C</a:t>
            </a:r>
            <a:r>
              <a:rPr sz="3700" b="1" spc="-265" dirty="0">
                <a:latin typeface="Trebuchet MS"/>
                <a:cs typeface="Trebuchet MS"/>
              </a:rPr>
              <a:t> </a:t>
            </a:r>
            <a:r>
              <a:rPr sz="3700" b="1" dirty="0">
                <a:latin typeface="Trebuchet MS"/>
                <a:cs typeface="Trebuchet MS"/>
              </a:rPr>
              <a:t>T</a:t>
            </a:r>
            <a:r>
              <a:rPr sz="3700" b="1" spc="-265" dirty="0">
                <a:latin typeface="Trebuchet MS"/>
                <a:cs typeface="Trebuchet MS"/>
              </a:rPr>
              <a:t> </a:t>
            </a:r>
            <a:r>
              <a:rPr sz="3700" b="1" spc="110" dirty="0">
                <a:latin typeface="Trebuchet MS"/>
                <a:cs typeface="Trebuchet MS"/>
              </a:rPr>
              <a:t>I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295" dirty="0">
                <a:latin typeface="Trebuchet MS"/>
                <a:cs typeface="Trebuchet MS"/>
              </a:rPr>
              <a:t>V</a:t>
            </a:r>
            <a:r>
              <a:rPr sz="3700" b="1" spc="-265" dirty="0">
                <a:latin typeface="Trebuchet MS"/>
                <a:cs typeface="Trebuchet MS"/>
              </a:rPr>
              <a:t> </a:t>
            </a:r>
            <a:r>
              <a:rPr sz="3700" b="1" spc="110" dirty="0">
                <a:latin typeface="Trebuchet MS"/>
                <a:cs typeface="Trebuchet MS"/>
              </a:rPr>
              <a:t>I</a:t>
            </a:r>
            <a:r>
              <a:rPr sz="3700" b="1" spc="-265" dirty="0">
                <a:latin typeface="Trebuchet MS"/>
                <a:cs typeface="Trebuchet MS"/>
              </a:rPr>
              <a:t> </a:t>
            </a:r>
            <a:r>
              <a:rPr sz="3700" b="1" dirty="0">
                <a:latin typeface="Trebuchet MS"/>
                <a:cs typeface="Trebuchet MS"/>
              </a:rPr>
              <a:t>T</a:t>
            </a:r>
            <a:r>
              <a:rPr sz="3700" b="1" spc="-265" dirty="0">
                <a:latin typeface="Trebuchet MS"/>
                <a:cs typeface="Trebuchet MS"/>
              </a:rPr>
              <a:t> </a:t>
            </a:r>
            <a:r>
              <a:rPr sz="3700" b="1" spc="130" dirty="0">
                <a:latin typeface="Trebuchet MS"/>
                <a:cs typeface="Trebuchet MS"/>
              </a:rPr>
              <a:t>Y</a:t>
            </a:r>
            <a:endParaRPr sz="37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4493" y="2487021"/>
            <a:ext cx="8032115" cy="6026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100330">
              <a:lnSpc>
                <a:spcPct val="125000"/>
              </a:lnSpc>
              <a:spcBef>
                <a:spcPts val="90"/>
              </a:spcBef>
            </a:pPr>
            <a:r>
              <a:rPr sz="3150" dirty="0">
                <a:solidFill>
                  <a:srgbClr val="2A2B2F"/>
                </a:solidFill>
                <a:latin typeface="Georgia"/>
                <a:cs typeface="Georgia"/>
              </a:rPr>
              <a:t>Anomaly</a:t>
            </a:r>
            <a:r>
              <a:rPr sz="3150" spc="175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dirty="0">
                <a:solidFill>
                  <a:srgbClr val="2A2B2F"/>
                </a:solidFill>
                <a:latin typeface="Georgia"/>
                <a:cs typeface="Georgia"/>
              </a:rPr>
              <a:t>Detection</a:t>
            </a:r>
            <a:r>
              <a:rPr sz="3150" spc="18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dirty="0">
                <a:solidFill>
                  <a:srgbClr val="2A2B2F"/>
                </a:solidFill>
                <a:latin typeface="Georgia"/>
                <a:cs typeface="Georgia"/>
              </a:rPr>
              <a:t>Decision</a:t>
            </a:r>
            <a:r>
              <a:rPr sz="3150" spc="185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dirty="0">
                <a:solidFill>
                  <a:srgbClr val="2A2B2F"/>
                </a:solidFill>
                <a:latin typeface="Georgia"/>
                <a:cs typeface="Georgia"/>
              </a:rPr>
              <a:t>Boundary.</a:t>
            </a:r>
            <a:r>
              <a:rPr sz="3150" spc="185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spc="-25" dirty="0">
                <a:solidFill>
                  <a:srgbClr val="2A2B2F"/>
                </a:solidFill>
                <a:latin typeface="Georgia"/>
                <a:cs typeface="Georgia"/>
              </a:rPr>
              <a:t>The </a:t>
            </a:r>
            <a:r>
              <a:rPr sz="3150" spc="55" dirty="0">
                <a:solidFill>
                  <a:srgbClr val="2A2B2F"/>
                </a:solidFill>
                <a:latin typeface="Georgia"/>
                <a:cs typeface="Georgia"/>
              </a:rPr>
              <a:t>scatter</a:t>
            </a:r>
            <a:r>
              <a:rPr sz="3150" spc="15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dirty="0">
                <a:solidFill>
                  <a:srgbClr val="2A2B2F"/>
                </a:solidFill>
                <a:latin typeface="Georgia"/>
                <a:cs typeface="Georgia"/>
              </a:rPr>
              <a:t>plot</a:t>
            </a:r>
            <a:r>
              <a:rPr sz="3150" spc="155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dirty="0">
                <a:solidFill>
                  <a:srgbClr val="2A2B2F"/>
                </a:solidFill>
                <a:latin typeface="Georgia"/>
                <a:cs typeface="Georgia"/>
              </a:rPr>
              <a:t>visualizes</a:t>
            </a:r>
            <a:r>
              <a:rPr sz="3150" spc="15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dirty="0">
                <a:solidFill>
                  <a:srgbClr val="2A2B2F"/>
                </a:solidFill>
                <a:latin typeface="Georgia"/>
                <a:cs typeface="Georgia"/>
              </a:rPr>
              <a:t>the</a:t>
            </a:r>
            <a:r>
              <a:rPr sz="3150" spc="15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dirty="0">
                <a:solidFill>
                  <a:srgbClr val="2A2B2F"/>
                </a:solidFill>
                <a:latin typeface="Georgia"/>
                <a:cs typeface="Georgia"/>
              </a:rPr>
              <a:t>output</a:t>
            </a:r>
            <a:r>
              <a:rPr sz="3150" spc="155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dirty="0">
                <a:solidFill>
                  <a:srgbClr val="2A2B2F"/>
                </a:solidFill>
                <a:latin typeface="Georgia"/>
                <a:cs typeface="Georgia"/>
              </a:rPr>
              <a:t>of</a:t>
            </a:r>
            <a:r>
              <a:rPr sz="3150" spc="15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spc="-25" dirty="0">
                <a:solidFill>
                  <a:srgbClr val="2A2B2F"/>
                </a:solidFill>
                <a:latin typeface="Georgia"/>
                <a:cs typeface="Georgia"/>
              </a:rPr>
              <a:t>the </a:t>
            </a:r>
            <a:r>
              <a:rPr sz="3150" dirty="0">
                <a:solidFill>
                  <a:srgbClr val="2A2B2F"/>
                </a:solidFill>
                <a:latin typeface="Georgia"/>
                <a:cs typeface="Georgia"/>
              </a:rPr>
              <a:t>Isolation</a:t>
            </a:r>
            <a:r>
              <a:rPr sz="3150" spc="13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dirty="0">
                <a:solidFill>
                  <a:srgbClr val="2A2B2F"/>
                </a:solidFill>
                <a:latin typeface="Georgia"/>
                <a:cs typeface="Georgia"/>
              </a:rPr>
              <a:t>Forest</a:t>
            </a:r>
            <a:r>
              <a:rPr sz="3150" spc="135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dirty="0">
                <a:solidFill>
                  <a:srgbClr val="2A2B2F"/>
                </a:solidFill>
                <a:latin typeface="Georgia"/>
                <a:cs typeface="Georgia"/>
              </a:rPr>
              <a:t>algorithm.</a:t>
            </a:r>
            <a:r>
              <a:rPr sz="3150" spc="14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dirty="0">
                <a:solidFill>
                  <a:srgbClr val="2A2B2F"/>
                </a:solidFill>
                <a:latin typeface="Georgia"/>
                <a:cs typeface="Georgia"/>
              </a:rPr>
              <a:t>The</a:t>
            </a:r>
            <a:r>
              <a:rPr sz="3150" spc="135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spc="50" dirty="0">
                <a:solidFill>
                  <a:srgbClr val="2A2B2F"/>
                </a:solidFill>
                <a:latin typeface="Georgia"/>
                <a:cs typeface="Georgia"/>
              </a:rPr>
              <a:t>dense</a:t>
            </a:r>
            <a:r>
              <a:rPr sz="3150" spc="14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spc="-20" dirty="0">
                <a:solidFill>
                  <a:srgbClr val="2A2B2F"/>
                </a:solidFill>
                <a:latin typeface="Georgia"/>
                <a:cs typeface="Georgia"/>
              </a:rPr>
              <a:t>Blue </a:t>
            </a:r>
            <a:r>
              <a:rPr sz="3150" spc="65" dirty="0">
                <a:solidFill>
                  <a:srgbClr val="2A2B2F"/>
                </a:solidFill>
                <a:latin typeface="Georgia"/>
                <a:cs typeface="Georgia"/>
              </a:rPr>
              <a:t>Cluster</a:t>
            </a:r>
            <a:r>
              <a:rPr sz="3150" spc="7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spc="65" dirty="0">
                <a:solidFill>
                  <a:srgbClr val="2A2B2F"/>
                </a:solidFill>
                <a:latin typeface="Georgia"/>
                <a:cs typeface="Georgia"/>
              </a:rPr>
              <a:t>represents</a:t>
            </a:r>
            <a:r>
              <a:rPr sz="3150" spc="8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spc="-180" dirty="0">
                <a:solidFill>
                  <a:srgbClr val="2A2B2F"/>
                </a:solidFill>
                <a:latin typeface="Georgia"/>
                <a:cs typeface="Georgia"/>
              </a:rPr>
              <a:t>96%</a:t>
            </a:r>
            <a:r>
              <a:rPr sz="3150" spc="8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dirty="0">
                <a:solidFill>
                  <a:srgbClr val="2A2B2F"/>
                </a:solidFill>
                <a:latin typeface="Georgia"/>
                <a:cs typeface="Georgia"/>
              </a:rPr>
              <a:t>of</a:t>
            </a:r>
            <a:r>
              <a:rPr sz="3150" spc="8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dirty="0">
                <a:solidFill>
                  <a:srgbClr val="2A2B2F"/>
                </a:solidFill>
                <a:latin typeface="Georgia"/>
                <a:cs typeface="Georgia"/>
              </a:rPr>
              <a:t>normal</a:t>
            </a:r>
            <a:r>
              <a:rPr sz="3150" spc="85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spc="-10" dirty="0">
                <a:solidFill>
                  <a:srgbClr val="2A2B2F"/>
                </a:solidFill>
                <a:latin typeface="Georgia"/>
                <a:cs typeface="Georgia"/>
              </a:rPr>
              <a:t>Aadhaar </a:t>
            </a:r>
            <a:r>
              <a:rPr sz="3150" spc="65" dirty="0">
                <a:solidFill>
                  <a:srgbClr val="2A2B2F"/>
                </a:solidFill>
                <a:latin typeface="Georgia"/>
                <a:cs typeface="Georgia"/>
              </a:rPr>
              <a:t>centers</a:t>
            </a:r>
            <a:r>
              <a:rPr sz="3150" spc="175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dirty="0">
                <a:solidFill>
                  <a:srgbClr val="2A2B2F"/>
                </a:solidFill>
                <a:latin typeface="Georgia"/>
                <a:cs typeface="Georgia"/>
              </a:rPr>
              <a:t>operating</a:t>
            </a:r>
            <a:r>
              <a:rPr sz="3150" spc="185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dirty="0">
                <a:solidFill>
                  <a:srgbClr val="2A2B2F"/>
                </a:solidFill>
                <a:latin typeface="Georgia"/>
                <a:cs typeface="Georgia"/>
              </a:rPr>
              <a:t>within</a:t>
            </a:r>
            <a:r>
              <a:rPr sz="3150" spc="185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spc="55" dirty="0">
                <a:solidFill>
                  <a:srgbClr val="2A2B2F"/>
                </a:solidFill>
                <a:latin typeface="Georgia"/>
                <a:cs typeface="Georgia"/>
              </a:rPr>
              <a:t>expected</a:t>
            </a:r>
            <a:r>
              <a:rPr sz="3150" spc="185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spc="-10" dirty="0">
                <a:solidFill>
                  <a:srgbClr val="2A2B2F"/>
                </a:solidFill>
                <a:latin typeface="Georgia"/>
                <a:cs typeface="Georgia"/>
              </a:rPr>
              <a:t>limits.</a:t>
            </a:r>
            <a:endParaRPr sz="3150">
              <a:latin typeface="Georgia"/>
              <a:cs typeface="Georgia"/>
            </a:endParaRPr>
          </a:p>
          <a:p>
            <a:pPr marL="12700" marR="400685">
              <a:lnSpc>
                <a:spcPct val="125000"/>
              </a:lnSpc>
            </a:pPr>
            <a:r>
              <a:rPr sz="3150" dirty="0">
                <a:solidFill>
                  <a:srgbClr val="2A2B2F"/>
                </a:solidFill>
                <a:latin typeface="Georgia"/>
                <a:cs typeface="Georgia"/>
              </a:rPr>
              <a:t>The</a:t>
            </a:r>
            <a:r>
              <a:rPr sz="3150" spc="114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dirty="0">
                <a:solidFill>
                  <a:srgbClr val="2A2B2F"/>
                </a:solidFill>
                <a:latin typeface="Georgia"/>
                <a:cs typeface="Georgia"/>
              </a:rPr>
              <a:t>Red</a:t>
            </a:r>
            <a:r>
              <a:rPr sz="3150" spc="114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dirty="0">
                <a:solidFill>
                  <a:srgbClr val="2A2B2F"/>
                </a:solidFill>
                <a:latin typeface="Georgia"/>
                <a:cs typeface="Georgia"/>
              </a:rPr>
              <a:t>Outliers</a:t>
            </a:r>
            <a:r>
              <a:rPr sz="3150" spc="114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spc="65" dirty="0">
                <a:solidFill>
                  <a:srgbClr val="2A2B2F"/>
                </a:solidFill>
                <a:latin typeface="Georgia"/>
                <a:cs typeface="Georgia"/>
              </a:rPr>
              <a:t>represent</a:t>
            </a:r>
            <a:r>
              <a:rPr sz="3150" spc="114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dirty="0">
                <a:solidFill>
                  <a:srgbClr val="2A2B2F"/>
                </a:solidFill>
                <a:latin typeface="Georgia"/>
                <a:cs typeface="Georgia"/>
              </a:rPr>
              <a:t>the</a:t>
            </a:r>
            <a:r>
              <a:rPr sz="3150" spc="114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dirty="0">
                <a:solidFill>
                  <a:srgbClr val="2A2B2F"/>
                </a:solidFill>
                <a:latin typeface="Georgia"/>
                <a:cs typeface="Georgia"/>
              </a:rPr>
              <a:t>top</a:t>
            </a:r>
            <a:r>
              <a:rPr sz="3150" spc="114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spc="-229" dirty="0">
                <a:solidFill>
                  <a:srgbClr val="2A2B2F"/>
                </a:solidFill>
                <a:latin typeface="Georgia"/>
                <a:cs typeface="Georgia"/>
              </a:rPr>
              <a:t>4%</a:t>
            </a:r>
            <a:r>
              <a:rPr sz="3150" spc="114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spc="-25" dirty="0">
                <a:solidFill>
                  <a:srgbClr val="2A2B2F"/>
                </a:solidFill>
                <a:latin typeface="Georgia"/>
                <a:cs typeface="Georgia"/>
              </a:rPr>
              <a:t>of </a:t>
            </a:r>
            <a:r>
              <a:rPr sz="3150" spc="100" dirty="0">
                <a:solidFill>
                  <a:srgbClr val="2A2B2F"/>
                </a:solidFill>
                <a:latin typeface="Georgia"/>
                <a:cs typeface="Georgia"/>
              </a:rPr>
              <a:t>high-</a:t>
            </a:r>
            <a:r>
              <a:rPr sz="3150" spc="50" dirty="0">
                <a:solidFill>
                  <a:srgbClr val="2A2B2F"/>
                </a:solidFill>
                <a:latin typeface="Georgia"/>
                <a:cs typeface="Georgia"/>
              </a:rPr>
              <a:t>risk</a:t>
            </a:r>
            <a:r>
              <a:rPr sz="3150" spc="22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dirty="0">
                <a:solidFill>
                  <a:srgbClr val="2A2B2F"/>
                </a:solidFill>
                <a:latin typeface="Georgia"/>
                <a:cs typeface="Georgia"/>
              </a:rPr>
              <a:t>pincodes</a:t>
            </a:r>
            <a:r>
              <a:rPr sz="3150" spc="215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dirty="0">
                <a:solidFill>
                  <a:srgbClr val="2A2B2F"/>
                </a:solidFill>
                <a:latin typeface="Georgia"/>
                <a:cs typeface="Georgia"/>
              </a:rPr>
              <a:t>deviating</a:t>
            </a:r>
            <a:r>
              <a:rPr sz="3150" spc="22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spc="-10" dirty="0">
                <a:solidFill>
                  <a:srgbClr val="2A2B2F"/>
                </a:solidFill>
                <a:latin typeface="Georgia"/>
                <a:cs typeface="Georgia"/>
              </a:rPr>
              <a:t>significantly </a:t>
            </a:r>
            <a:r>
              <a:rPr sz="3150" spc="-235" dirty="0">
                <a:solidFill>
                  <a:srgbClr val="2A2B2F"/>
                </a:solidFill>
                <a:latin typeface="Georgia"/>
                <a:cs typeface="Georgia"/>
              </a:rPr>
              <a:t>(&gt;5</a:t>
            </a:r>
            <a:r>
              <a:rPr sz="3150" spc="-235" dirty="0">
                <a:solidFill>
                  <a:srgbClr val="2A2B2F"/>
                </a:solidFill>
                <a:latin typeface="Lucida Sans Unicode"/>
                <a:cs typeface="Lucida Sans Unicode"/>
              </a:rPr>
              <a:t>σ</a:t>
            </a:r>
            <a:r>
              <a:rPr sz="3150" spc="-235" dirty="0">
                <a:solidFill>
                  <a:srgbClr val="2A2B2F"/>
                </a:solidFill>
                <a:latin typeface="Georgia"/>
                <a:cs typeface="Georgia"/>
              </a:rPr>
              <a:t>)</a:t>
            </a:r>
            <a:r>
              <a:rPr sz="3150" spc="165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spc="50" dirty="0">
                <a:solidFill>
                  <a:srgbClr val="2A2B2F"/>
                </a:solidFill>
                <a:latin typeface="Georgia"/>
                <a:cs typeface="Georgia"/>
              </a:rPr>
              <a:t>from</a:t>
            </a:r>
            <a:r>
              <a:rPr sz="3150" spc="18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dirty="0">
                <a:solidFill>
                  <a:srgbClr val="2A2B2F"/>
                </a:solidFill>
                <a:latin typeface="Georgia"/>
                <a:cs typeface="Georgia"/>
              </a:rPr>
              <a:t>their</a:t>
            </a:r>
            <a:r>
              <a:rPr sz="3150" spc="175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dirty="0">
                <a:solidFill>
                  <a:srgbClr val="2A2B2F"/>
                </a:solidFill>
                <a:latin typeface="Georgia"/>
                <a:cs typeface="Georgia"/>
              </a:rPr>
              <a:t>district's</a:t>
            </a:r>
            <a:r>
              <a:rPr sz="3150" spc="18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spc="-10" dirty="0">
                <a:solidFill>
                  <a:srgbClr val="2A2B2F"/>
                </a:solidFill>
                <a:latin typeface="Georgia"/>
                <a:cs typeface="Georgia"/>
              </a:rPr>
              <a:t>demographic </a:t>
            </a:r>
            <a:r>
              <a:rPr sz="3150" dirty="0">
                <a:solidFill>
                  <a:srgbClr val="2A2B2F"/>
                </a:solidFill>
                <a:latin typeface="Georgia"/>
                <a:cs typeface="Georgia"/>
              </a:rPr>
              <a:t>baseline,</a:t>
            </a:r>
            <a:r>
              <a:rPr sz="3150" spc="26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dirty="0">
                <a:solidFill>
                  <a:srgbClr val="2A2B2F"/>
                </a:solidFill>
                <a:latin typeface="Georgia"/>
                <a:cs typeface="Georgia"/>
              </a:rPr>
              <a:t>indicating</a:t>
            </a:r>
            <a:r>
              <a:rPr sz="3150" spc="27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dirty="0">
                <a:solidFill>
                  <a:srgbClr val="2A2B2F"/>
                </a:solidFill>
                <a:latin typeface="Georgia"/>
                <a:cs typeface="Georgia"/>
              </a:rPr>
              <a:t>potential</a:t>
            </a:r>
            <a:r>
              <a:rPr sz="3150" spc="270" dirty="0">
                <a:solidFill>
                  <a:srgbClr val="2A2B2F"/>
                </a:solidFill>
                <a:latin typeface="Georgia"/>
                <a:cs typeface="Georgia"/>
              </a:rPr>
              <a:t> </a:t>
            </a:r>
            <a:r>
              <a:rPr sz="3150" spc="90" dirty="0">
                <a:solidFill>
                  <a:srgbClr val="2A2B2F"/>
                </a:solidFill>
                <a:latin typeface="Georgia"/>
                <a:cs typeface="Georgia"/>
              </a:rPr>
              <a:t>bulk-</a:t>
            </a:r>
            <a:r>
              <a:rPr sz="3150" spc="-10" dirty="0">
                <a:solidFill>
                  <a:srgbClr val="2A2B2F"/>
                </a:solidFill>
                <a:latin typeface="Georgia"/>
                <a:cs typeface="Georgia"/>
              </a:rPr>
              <a:t>update fraud.</a:t>
            </a:r>
            <a:endParaRPr sz="31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8857" y="2502534"/>
            <a:ext cx="228600" cy="2285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68857" y="3312159"/>
            <a:ext cx="228600" cy="2285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8857" y="4121784"/>
            <a:ext cx="228600" cy="2285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68857" y="4931409"/>
            <a:ext cx="228600" cy="2285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68857" y="7360284"/>
            <a:ext cx="228600" cy="22859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dirty="0"/>
              <a:t>Big</a:t>
            </a:r>
            <a:r>
              <a:rPr spc="-15" dirty="0"/>
              <a:t> </a:t>
            </a:r>
            <a:r>
              <a:rPr dirty="0"/>
              <a:t>Number</a:t>
            </a:r>
            <a:r>
              <a:rPr spc="-15" dirty="0"/>
              <a:t> </a:t>
            </a:r>
            <a:r>
              <a:rPr dirty="0"/>
              <a:t>(Center):</a:t>
            </a:r>
            <a:r>
              <a:rPr spc="-15" dirty="0"/>
              <a:t> </a:t>
            </a:r>
            <a:r>
              <a:rPr spc="-315" dirty="0"/>
              <a:t>84,516</a:t>
            </a: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/>
              <a:t>Label</a:t>
            </a:r>
            <a:r>
              <a:rPr spc="65" dirty="0"/>
              <a:t> </a:t>
            </a:r>
            <a:r>
              <a:rPr spc="80" dirty="0"/>
              <a:t>for</a:t>
            </a:r>
            <a:r>
              <a:rPr spc="65" dirty="0"/>
              <a:t> </a:t>
            </a:r>
            <a:r>
              <a:rPr dirty="0"/>
              <a:t>Number:</a:t>
            </a:r>
            <a:r>
              <a:rPr spc="65" dirty="0"/>
              <a:t> </a:t>
            </a:r>
            <a:r>
              <a:rPr dirty="0"/>
              <a:t>Anomalies</a:t>
            </a:r>
            <a:r>
              <a:rPr spc="65" dirty="0"/>
              <a:t> </a:t>
            </a:r>
            <a:r>
              <a:rPr spc="50" dirty="0"/>
              <a:t>Detected</a:t>
            </a:r>
          </a:p>
          <a:p>
            <a:pPr marL="12700" marR="5080">
              <a:lnSpc>
                <a:spcPct val="107300"/>
              </a:lnSpc>
            </a:pPr>
            <a:r>
              <a:rPr dirty="0"/>
              <a:t>Analyzed</a:t>
            </a:r>
            <a:r>
              <a:rPr spc="80" dirty="0"/>
              <a:t> </a:t>
            </a:r>
            <a:r>
              <a:rPr spc="-415" dirty="0"/>
              <a:t>2</a:t>
            </a:r>
            <a:r>
              <a:rPr spc="85" dirty="0"/>
              <a:t> </a:t>
            </a:r>
            <a:r>
              <a:rPr spc="-10" dirty="0"/>
              <a:t>Million+</a:t>
            </a:r>
            <a:r>
              <a:rPr spc="75" dirty="0"/>
              <a:t> </a:t>
            </a:r>
            <a:r>
              <a:rPr spc="110" dirty="0"/>
              <a:t>records</a:t>
            </a:r>
            <a:r>
              <a:rPr spc="85" dirty="0"/>
              <a:t> </a:t>
            </a:r>
            <a:r>
              <a:rPr dirty="0"/>
              <a:t>in</a:t>
            </a:r>
            <a:r>
              <a:rPr spc="85" dirty="0"/>
              <a:t> </a:t>
            </a:r>
            <a:r>
              <a:rPr spc="75" dirty="0"/>
              <a:t>under</a:t>
            </a:r>
            <a:r>
              <a:rPr spc="80" dirty="0"/>
              <a:t> </a:t>
            </a:r>
            <a:r>
              <a:rPr spc="-295" dirty="0"/>
              <a:t>30</a:t>
            </a:r>
            <a:r>
              <a:rPr spc="80" dirty="0"/>
              <a:t> </a:t>
            </a:r>
            <a:r>
              <a:rPr spc="50" dirty="0"/>
              <a:t>seconds. </a:t>
            </a:r>
            <a:r>
              <a:rPr dirty="0"/>
              <a:t>Identified</a:t>
            </a:r>
            <a:r>
              <a:rPr spc="95" dirty="0"/>
              <a:t> </a:t>
            </a:r>
            <a:r>
              <a:rPr dirty="0"/>
              <a:t>a</a:t>
            </a:r>
            <a:r>
              <a:rPr spc="95" dirty="0"/>
              <a:t> </a:t>
            </a:r>
            <a:r>
              <a:rPr spc="65" dirty="0"/>
              <a:t>critical</a:t>
            </a:r>
            <a:r>
              <a:rPr spc="90" dirty="0"/>
              <a:t> </a:t>
            </a:r>
            <a:r>
              <a:rPr dirty="0"/>
              <a:t>anomaly</a:t>
            </a:r>
            <a:r>
              <a:rPr spc="95" dirty="0"/>
              <a:t> </a:t>
            </a:r>
            <a:r>
              <a:rPr dirty="0"/>
              <a:t>in</a:t>
            </a:r>
            <a:r>
              <a:rPr spc="95" dirty="0"/>
              <a:t> </a:t>
            </a:r>
            <a:r>
              <a:rPr dirty="0"/>
              <a:t>South</a:t>
            </a:r>
            <a:r>
              <a:rPr spc="95" dirty="0"/>
              <a:t> </a:t>
            </a:r>
            <a:r>
              <a:rPr dirty="0"/>
              <a:t>Delhi:</a:t>
            </a:r>
            <a:r>
              <a:rPr spc="90" dirty="0"/>
              <a:t> </a:t>
            </a:r>
            <a:r>
              <a:rPr dirty="0"/>
              <a:t>A</a:t>
            </a:r>
            <a:r>
              <a:rPr spc="95" dirty="0"/>
              <a:t> </a:t>
            </a:r>
            <a:r>
              <a:rPr spc="50" dirty="0"/>
              <a:t>single </a:t>
            </a:r>
            <a:r>
              <a:rPr spc="105" dirty="0"/>
              <a:t>center</a:t>
            </a:r>
            <a:r>
              <a:rPr spc="15" dirty="0"/>
              <a:t> </a:t>
            </a:r>
            <a:r>
              <a:rPr spc="95" dirty="0"/>
              <a:t>processed</a:t>
            </a:r>
            <a:r>
              <a:rPr spc="25" dirty="0"/>
              <a:t> </a:t>
            </a:r>
            <a:r>
              <a:rPr spc="-330" dirty="0"/>
              <a:t>13,381</a:t>
            </a:r>
            <a:r>
              <a:rPr spc="30" dirty="0"/>
              <a:t> </a:t>
            </a:r>
            <a:r>
              <a:rPr dirty="0"/>
              <a:t>updates/day</a:t>
            </a:r>
            <a:r>
              <a:rPr spc="25" dirty="0"/>
              <a:t> </a:t>
            </a:r>
            <a:r>
              <a:rPr spc="-95" dirty="0"/>
              <a:t>(100x</a:t>
            </a:r>
            <a:r>
              <a:rPr spc="20" dirty="0"/>
              <a:t> </a:t>
            </a:r>
            <a:r>
              <a:rPr spc="40" dirty="0"/>
              <a:t>the </a:t>
            </a:r>
            <a:r>
              <a:rPr spc="70" dirty="0"/>
              <a:t>district</a:t>
            </a:r>
            <a:r>
              <a:rPr spc="114" dirty="0"/>
              <a:t> </a:t>
            </a:r>
            <a:r>
              <a:rPr spc="-10" dirty="0"/>
              <a:t>average).</a:t>
            </a:r>
          </a:p>
          <a:p>
            <a:pPr marL="12700" marR="471805">
              <a:lnSpc>
                <a:spcPct val="107300"/>
              </a:lnSpc>
            </a:pPr>
            <a:r>
              <a:rPr dirty="0"/>
              <a:t>Future</a:t>
            </a:r>
            <a:r>
              <a:rPr spc="95" dirty="0"/>
              <a:t> </a:t>
            </a:r>
            <a:r>
              <a:rPr dirty="0"/>
              <a:t>Scope:</a:t>
            </a:r>
            <a:r>
              <a:rPr spc="110" dirty="0"/>
              <a:t> </a:t>
            </a:r>
            <a:r>
              <a:rPr dirty="0"/>
              <a:t>Ready</a:t>
            </a:r>
            <a:r>
              <a:rPr spc="105" dirty="0"/>
              <a:t> </a:t>
            </a:r>
            <a:r>
              <a:rPr spc="80" dirty="0"/>
              <a:t>for</a:t>
            </a:r>
            <a:r>
              <a:rPr spc="105" dirty="0"/>
              <a:t> </a:t>
            </a:r>
            <a:r>
              <a:rPr spc="95" dirty="0"/>
              <a:t>Real-</a:t>
            </a:r>
            <a:r>
              <a:rPr dirty="0"/>
              <a:t>time</a:t>
            </a:r>
            <a:r>
              <a:rPr spc="105" dirty="0"/>
              <a:t> </a:t>
            </a:r>
            <a:r>
              <a:rPr spc="-110" dirty="0"/>
              <a:t>API</a:t>
            </a:r>
            <a:r>
              <a:rPr spc="110" dirty="0"/>
              <a:t> </a:t>
            </a:r>
            <a:r>
              <a:rPr spc="45" dirty="0"/>
              <a:t>integration </a:t>
            </a:r>
            <a:r>
              <a:rPr spc="595" dirty="0"/>
              <a:t>&amp;</a:t>
            </a:r>
            <a:r>
              <a:rPr spc="175" dirty="0"/>
              <a:t> </a:t>
            </a:r>
            <a:r>
              <a:rPr dirty="0"/>
              <a:t>Geospatial</a:t>
            </a:r>
            <a:r>
              <a:rPr spc="180" dirty="0"/>
              <a:t> </a:t>
            </a:r>
            <a:r>
              <a:rPr spc="-10" dirty="0"/>
              <a:t>Heatmapping.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94171" y="988477"/>
            <a:ext cx="6878955" cy="5918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472940" algn="l"/>
              </a:tabLst>
            </a:pPr>
            <a:r>
              <a:rPr sz="3700" b="1" spc="315" dirty="0">
                <a:latin typeface="Trebuchet MS"/>
                <a:cs typeface="Trebuchet MS"/>
              </a:rPr>
              <a:t>R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250" dirty="0">
                <a:latin typeface="Trebuchet MS"/>
                <a:cs typeface="Trebuchet MS"/>
              </a:rPr>
              <a:t>E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350" dirty="0">
                <a:latin typeface="Trebuchet MS"/>
                <a:cs typeface="Trebuchet MS"/>
              </a:rPr>
              <a:t>A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80" dirty="0">
                <a:latin typeface="Trebuchet MS"/>
                <a:cs typeface="Trebuchet MS"/>
              </a:rPr>
              <a:t>L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95" dirty="0">
                <a:latin typeface="Trebuchet MS"/>
                <a:cs typeface="Trebuchet MS"/>
              </a:rPr>
              <a:t>-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290" dirty="0">
                <a:latin typeface="Trebuchet MS"/>
                <a:cs typeface="Trebuchet MS"/>
              </a:rPr>
              <a:t>W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204" dirty="0">
                <a:latin typeface="Trebuchet MS"/>
                <a:cs typeface="Trebuchet MS"/>
              </a:rPr>
              <a:t>O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315" dirty="0">
                <a:latin typeface="Trebuchet MS"/>
                <a:cs typeface="Trebuchet MS"/>
              </a:rPr>
              <a:t>R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80" dirty="0">
                <a:latin typeface="Trebuchet MS"/>
                <a:cs typeface="Trebuchet MS"/>
              </a:rPr>
              <a:t>L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235" dirty="0">
                <a:latin typeface="Trebuchet MS"/>
                <a:cs typeface="Trebuchet MS"/>
              </a:rPr>
              <a:t>D</a:t>
            </a:r>
            <a:r>
              <a:rPr sz="3700" b="1" dirty="0">
                <a:latin typeface="Trebuchet MS"/>
                <a:cs typeface="Trebuchet MS"/>
              </a:rPr>
              <a:t>	</a:t>
            </a:r>
            <a:r>
              <a:rPr sz="3700" b="1" spc="110" dirty="0">
                <a:latin typeface="Trebuchet MS"/>
                <a:cs typeface="Trebuchet MS"/>
              </a:rPr>
              <a:t>I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635" dirty="0">
                <a:latin typeface="Trebuchet MS"/>
                <a:cs typeface="Trebuchet MS"/>
              </a:rPr>
              <a:t>M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235" dirty="0">
                <a:latin typeface="Trebuchet MS"/>
                <a:cs typeface="Trebuchet MS"/>
              </a:rPr>
              <a:t>P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350" dirty="0">
                <a:latin typeface="Trebuchet MS"/>
                <a:cs typeface="Trebuchet MS"/>
              </a:rPr>
              <a:t>A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380" dirty="0">
                <a:latin typeface="Trebuchet MS"/>
                <a:cs typeface="Trebuchet MS"/>
              </a:rPr>
              <a:t>C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-50" dirty="0">
                <a:latin typeface="Trebuchet MS"/>
                <a:cs typeface="Trebuchet MS"/>
              </a:rPr>
              <a:t>T</a:t>
            </a:r>
            <a:endParaRPr sz="37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28694" y="1760761"/>
            <a:ext cx="16230600" cy="38735"/>
          </a:xfrm>
          <a:custGeom>
            <a:avLst/>
            <a:gdLst/>
            <a:ahLst/>
            <a:cxnLst/>
            <a:rect l="l" t="t" r="r" b="b"/>
            <a:pathLst>
              <a:path w="16230600" h="38735">
                <a:moveTo>
                  <a:pt x="0" y="38508"/>
                </a:moveTo>
                <a:lnTo>
                  <a:pt x="16230593" y="0"/>
                </a:lnTo>
              </a:path>
            </a:pathLst>
          </a:custGeom>
          <a:ln w="9524">
            <a:solidFill>
              <a:srgbClr val="2A2B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706" y="4514764"/>
            <a:ext cx="16230600" cy="38735"/>
          </a:xfrm>
          <a:custGeom>
            <a:avLst/>
            <a:gdLst/>
            <a:ahLst/>
            <a:cxnLst/>
            <a:rect l="l" t="t" r="r" b="b"/>
            <a:pathLst>
              <a:path w="16230600" h="38735">
                <a:moveTo>
                  <a:pt x="0" y="38508"/>
                </a:moveTo>
                <a:lnTo>
                  <a:pt x="16230593" y="0"/>
                </a:lnTo>
              </a:path>
            </a:pathLst>
          </a:custGeom>
          <a:ln w="9524">
            <a:solidFill>
              <a:srgbClr val="2A2B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105"/>
              </a:spcBef>
            </a:pPr>
            <a:r>
              <a:rPr spc="105" dirty="0"/>
              <a:t>Thank</a:t>
            </a:r>
            <a:r>
              <a:rPr spc="295" dirty="0"/>
              <a:t> </a:t>
            </a:r>
            <a:r>
              <a:rPr spc="-20" dirty="0"/>
              <a:t>you!</a:t>
            </a:r>
          </a:p>
          <a:p>
            <a:pPr marL="182245" marR="5080">
              <a:lnSpc>
                <a:spcPct val="117000"/>
              </a:lnSpc>
              <a:spcBef>
                <a:spcPts val="2010"/>
              </a:spcBef>
              <a:tabLst>
                <a:tab pos="3571240" algn="l"/>
                <a:tab pos="3752215" algn="l"/>
                <a:tab pos="4625340" algn="l"/>
                <a:tab pos="5233035" algn="l"/>
                <a:tab pos="5281930" algn="l"/>
                <a:tab pos="7972425" algn="l"/>
                <a:tab pos="9041765" algn="l"/>
                <a:tab pos="11891010" algn="l"/>
                <a:tab pos="15385415" algn="l"/>
              </a:tabLst>
            </a:pPr>
            <a:r>
              <a:rPr sz="3700" b="1" spc="675" dirty="0">
                <a:latin typeface="Trebuchet MS"/>
                <a:cs typeface="Trebuchet MS"/>
              </a:rPr>
              <a:t>S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250" dirty="0">
                <a:latin typeface="Trebuchet MS"/>
                <a:cs typeface="Trebuchet MS"/>
              </a:rPr>
              <a:t>E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380" dirty="0">
                <a:latin typeface="Trebuchet MS"/>
                <a:cs typeface="Trebuchet MS"/>
              </a:rPr>
              <a:t>C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175" dirty="0">
                <a:latin typeface="Trebuchet MS"/>
                <a:cs typeface="Trebuchet MS"/>
              </a:rPr>
              <a:t>U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315" dirty="0">
                <a:latin typeface="Trebuchet MS"/>
                <a:cs typeface="Trebuchet MS"/>
              </a:rPr>
              <a:t>R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110" dirty="0">
                <a:latin typeface="Trebuchet MS"/>
                <a:cs typeface="Trebuchet MS"/>
              </a:rPr>
              <a:t>I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420" dirty="0">
                <a:latin typeface="Trebuchet MS"/>
                <a:cs typeface="Trebuchet MS"/>
              </a:rPr>
              <a:t>N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270" dirty="0">
                <a:latin typeface="Trebuchet MS"/>
                <a:cs typeface="Trebuchet MS"/>
              </a:rPr>
              <a:t>G</a:t>
            </a:r>
            <a:r>
              <a:rPr sz="3700" b="1" dirty="0">
                <a:latin typeface="Trebuchet MS"/>
                <a:cs typeface="Trebuchet MS"/>
              </a:rPr>
              <a:t>		T</a:t>
            </a:r>
            <a:r>
              <a:rPr sz="3700" b="1" spc="-265" dirty="0">
                <a:latin typeface="Trebuchet MS"/>
                <a:cs typeface="Trebuchet MS"/>
              </a:rPr>
              <a:t> </a:t>
            </a:r>
            <a:r>
              <a:rPr sz="3700" b="1" spc="325" dirty="0">
                <a:latin typeface="Trebuchet MS"/>
                <a:cs typeface="Trebuchet MS"/>
              </a:rPr>
              <a:t>H</a:t>
            </a:r>
            <a:r>
              <a:rPr sz="3700" b="1" spc="-260" dirty="0">
                <a:latin typeface="Trebuchet MS"/>
                <a:cs typeface="Trebuchet MS"/>
              </a:rPr>
              <a:t> </a:t>
            </a:r>
            <a:r>
              <a:rPr sz="3700" b="1" spc="200" dirty="0">
                <a:latin typeface="Trebuchet MS"/>
                <a:cs typeface="Trebuchet MS"/>
              </a:rPr>
              <a:t>E</a:t>
            </a:r>
            <a:r>
              <a:rPr sz="3700" b="1" dirty="0">
                <a:latin typeface="Trebuchet MS"/>
                <a:cs typeface="Trebuchet MS"/>
              </a:rPr>
              <a:t>	</a:t>
            </a:r>
            <a:r>
              <a:rPr sz="3700" b="1" spc="105" dirty="0">
                <a:latin typeface="Trebuchet MS"/>
                <a:cs typeface="Trebuchet MS"/>
              </a:rPr>
              <a:t>F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175" dirty="0">
                <a:latin typeface="Trebuchet MS"/>
                <a:cs typeface="Trebuchet MS"/>
              </a:rPr>
              <a:t>U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dirty="0">
                <a:latin typeface="Trebuchet MS"/>
                <a:cs typeface="Trebuchet MS"/>
              </a:rPr>
              <a:t>T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175" dirty="0">
                <a:latin typeface="Trebuchet MS"/>
                <a:cs typeface="Trebuchet MS"/>
              </a:rPr>
              <a:t>U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315" dirty="0">
                <a:latin typeface="Trebuchet MS"/>
                <a:cs typeface="Trebuchet MS"/>
              </a:rPr>
              <a:t>R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200" dirty="0">
                <a:latin typeface="Trebuchet MS"/>
                <a:cs typeface="Trebuchet MS"/>
              </a:rPr>
              <a:t>E</a:t>
            </a:r>
            <a:r>
              <a:rPr sz="3700" b="1" dirty="0">
                <a:latin typeface="Trebuchet MS"/>
                <a:cs typeface="Trebuchet MS"/>
              </a:rPr>
              <a:t>	</a:t>
            </a:r>
            <a:r>
              <a:rPr sz="3700" b="1" spc="204" dirty="0">
                <a:latin typeface="Trebuchet MS"/>
                <a:cs typeface="Trebuchet MS"/>
              </a:rPr>
              <a:t>O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55" dirty="0">
                <a:latin typeface="Trebuchet MS"/>
                <a:cs typeface="Trebuchet MS"/>
              </a:rPr>
              <a:t>F</a:t>
            </a:r>
            <a:r>
              <a:rPr sz="3700" b="1" dirty="0">
                <a:latin typeface="Trebuchet MS"/>
                <a:cs typeface="Trebuchet MS"/>
              </a:rPr>
              <a:t>	</a:t>
            </a:r>
            <a:r>
              <a:rPr sz="3700" b="1" spc="285" dirty="0">
                <a:latin typeface="Trebuchet MS"/>
                <a:cs typeface="Trebuchet MS"/>
              </a:rPr>
              <a:t>D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110" dirty="0">
                <a:latin typeface="Trebuchet MS"/>
                <a:cs typeface="Trebuchet MS"/>
              </a:rPr>
              <a:t>I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320" dirty="0">
                <a:latin typeface="Trebuchet MS"/>
                <a:cs typeface="Trebuchet MS"/>
              </a:rPr>
              <a:t>G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110" dirty="0">
                <a:latin typeface="Trebuchet MS"/>
                <a:cs typeface="Trebuchet MS"/>
              </a:rPr>
              <a:t>I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dirty="0">
                <a:latin typeface="Trebuchet MS"/>
                <a:cs typeface="Trebuchet MS"/>
              </a:rPr>
              <a:t>T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350" dirty="0">
                <a:latin typeface="Trebuchet MS"/>
                <a:cs typeface="Trebuchet MS"/>
              </a:rPr>
              <a:t>A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30" dirty="0">
                <a:latin typeface="Trebuchet MS"/>
                <a:cs typeface="Trebuchet MS"/>
              </a:rPr>
              <a:t>L</a:t>
            </a:r>
            <a:r>
              <a:rPr sz="3700" b="1" dirty="0">
                <a:latin typeface="Trebuchet MS"/>
                <a:cs typeface="Trebuchet MS"/>
              </a:rPr>
              <a:t>	</a:t>
            </a:r>
            <a:r>
              <a:rPr sz="3700" b="1" spc="110" dirty="0">
                <a:latin typeface="Trebuchet MS"/>
                <a:cs typeface="Trebuchet MS"/>
              </a:rPr>
              <a:t>I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285" dirty="0">
                <a:latin typeface="Trebuchet MS"/>
                <a:cs typeface="Trebuchet MS"/>
              </a:rPr>
              <a:t>D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250" dirty="0">
                <a:latin typeface="Trebuchet MS"/>
                <a:cs typeface="Trebuchet MS"/>
              </a:rPr>
              <a:t>E</a:t>
            </a:r>
            <a:r>
              <a:rPr sz="3700" b="1" spc="-265" dirty="0">
                <a:latin typeface="Trebuchet MS"/>
                <a:cs typeface="Trebuchet MS"/>
              </a:rPr>
              <a:t> </a:t>
            </a:r>
            <a:r>
              <a:rPr sz="3700" b="1" spc="420" dirty="0">
                <a:latin typeface="Trebuchet MS"/>
                <a:cs typeface="Trebuchet MS"/>
              </a:rPr>
              <a:t>N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dirty="0">
                <a:latin typeface="Trebuchet MS"/>
                <a:cs typeface="Trebuchet MS"/>
              </a:rPr>
              <a:t>T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110" dirty="0">
                <a:latin typeface="Trebuchet MS"/>
                <a:cs typeface="Trebuchet MS"/>
              </a:rPr>
              <a:t>I</a:t>
            </a:r>
            <a:r>
              <a:rPr sz="3700" b="1" spc="-265" dirty="0">
                <a:latin typeface="Trebuchet MS"/>
                <a:cs typeface="Trebuchet MS"/>
              </a:rPr>
              <a:t> </a:t>
            </a:r>
            <a:r>
              <a:rPr sz="3700" b="1" dirty="0">
                <a:latin typeface="Trebuchet MS"/>
                <a:cs typeface="Trebuchet MS"/>
              </a:rPr>
              <a:t>T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180" dirty="0">
                <a:latin typeface="Trebuchet MS"/>
                <a:cs typeface="Trebuchet MS"/>
              </a:rPr>
              <a:t>Y</a:t>
            </a:r>
            <a:r>
              <a:rPr sz="3700" b="1" spc="-265" dirty="0">
                <a:latin typeface="Trebuchet MS"/>
                <a:cs typeface="Trebuchet MS"/>
              </a:rPr>
              <a:t> </a:t>
            </a:r>
            <a:r>
              <a:rPr sz="3700" b="1" spc="-395" dirty="0">
                <a:latin typeface="Trebuchet MS"/>
                <a:cs typeface="Trebuchet MS"/>
              </a:rPr>
              <a:t>,</a:t>
            </a:r>
            <a:r>
              <a:rPr sz="3700" b="1" dirty="0">
                <a:latin typeface="Trebuchet MS"/>
                <a:cs typeface="Trebuchet MS"/>
              </a:rPr>
              <a:t>	</a:t>
            </a:r>
            <a:r>
              <a:rPr sz="3700" b="1" spc="204" dirty="0">
                <a:latin typeface="Trebuchet MS"/>
                <a:cs typeface="Trebuchet MS"/>
              </a:rPr>
              <a:t>O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420" dirty="0">
                <a:latin typeface="Trebuchet MS"/>
                <a:cs typeface="Trebuchet MS"/>
              </a:rPr>
              <a:t>N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200" dirty="0">
                <a:latin typeface="Trebuchet MS"/>
                <a:cs typeface="Trebuchet MS"/>
              </a:rPr>
              <a:t>E </a:t>
            </a:r>
            <a:r>
              <a:rPr sz="3700" b="1" spc="350" dirty="0">
                <a:latin typeface="Trebuchet MS"/>
                <a:cs typeface="Trebuchet MS"/>
              </a:rPr>
              <a:t>A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420" dirty="0">
                <a:latin typeface="Trebuchet MS"/>
                <a:cs typeface="Trebuchet MS"/>
              </a:rPr>
              <a:t>N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204" dirty="0">
                <a:latin typeface="Trebuchet MS"/>
                <a:cs typeface="Trebuchet MS"/>
              </a:rPr>
              <a:t>O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635" dirty="0">
                <a:latin typeface="Trebuchet MS"/>
                <a:cs typeface="Trebuchet MS"/>
              </a:rPr>
              <a:t>M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350" dirty="0">
                <a:latin typeface="Trebuchet MS"/>
                <a:cs typeface="Trebuchet MS"/>
              </a:rPr>
              <a:t>A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80" dirty="0">
                <a:latin typeface="Trebuchet MS"/>
                <a:cs typeface="Trebuchet MS"/>
              </a:rPr>
              <a:t>L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130" dirty="0">
                <a:latin typeface="Trebuchet MS"/>
                <a:cs typeface="Trebuchet MS"/>
              </a:rPr>
              <a:t>Y</a:t>
            </a:r>
            <a:r>
              <a:rPr sz="3700" b="1" dirty="0">
                <a:latin typeface="Trebuchet MS"/>
                <a:cs typeface="Trebuchet MS"/>
              </a:rPr>
              <a:t>	</a:t>
            </a:r>
            <a:r>
              <a:rPr sz="3700" b="1" spc="350" dirty="0">
                <a:latin typeface="Trebuchet MS"/>
                <a:cs typeface="Trebuchet MS"/>
              </a:rPr>
              <a:t>A</a:t>
            </a:r>
            <a:r>
              <a:rPr sz="3700" b="1" spc="-275" dirty="0">
                <a:latin typeface="Trebuchet MS"/>
                <a:cs typeface="Trebuchet MS"/>
              </a:rPr>
              <a:t> </a:t>
            </a:r>
            <a:r>
              <a:rPr sz="3700" b="1" spc="-50" dirty="0">
                <a:latin typeface="Trebuchet MS"/>
                <a:cs typeface="Trebuchet MS"/>
              </a:rPr>
              <a:t>T</a:t>
            </a:r>
            <a:r>
              <a:rPr sz="3700" b="1" dirty="0">
                <a:latin typeface="Trebuchet MS"/>
                <a:cs typeface="Trebuchet MS"/>
              </a:rPr>
              <a:t>	</a:t>
            </a:r>
            <a:r>
              <a:rPr sz="3700" b="1" spc="300" dirty="0">
                <a:latin typeface="Trebuchet MS"/>
                <a:cs typeface="Trebuchet MS"/>
              </a:rPr>
              <a:t>A</a:t>
            </a:r>
            <a:r>
              <a:rPr sz="3700" b="1" dirty="0">
                <a:latin typeface="Trebuchet MS"/>
                <a:cs typeface="Trebuchet MS"/>
              </a:rPr>
              <a:t>		T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110" dirty="0">
                <a:latin typeface="Trebuchet MS"/>
                <a:cs typeface="Trebuchet MS"/>
              </a:rPr>
              <a:t>I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635" dirty="0">
                <a:latin typeface="Trebuchet MS"/>
                <a:cs typeface="Trebuchet MS"/>
              </a:rPr>
              <a:t>M</a:t>
            </a:r>
            <a:r>
              <a:rPr sz="3700" b="1" spc="-265" dirty="0">
                <a:latin typeface="Trebuchet MS"/>
                <a:cs typeface="Trebuchet MS"/>
              </a:rPr>
              <a:t> </a:t>
            </a:r>
            <a:r>
              <a:rPr sz="3700" b="1" spc="250" dirty="0">
                <a:latin typeface="Trebuchet MS"/>
                <a:cs typeface="Trebuchet MS"/>
              </a:rPr>
              <a:t>E</a:t>
            </a:r>
            <a:r>
              <a:rPr sz="3700" b="1" spc="-270" dirty="0">
                <a:latin typeface="Trebuchet MS"/>
                <a:cs typeface="Trebuchet MS"/>
              </a:rPr>
              <a:t> </a:t>
            </a:r>
            <a:r>
              <a:rPr sz="3700" b="1" spc="-420" dirty="0">
                <a:latin typeface="Trebuchet MS"/>
                <a:cs typeface="Trebuchet MS"/>
              </a:rPr>
              <a:t>.</a:t>
            </a:r>
            <a:endParaRPr sz="37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3707" y="7566647"/>
            <a:ext cx="6570980" cy="1778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2300" dirty="0">
                <a:solidFill>
                  <a:srgbClr val="2A2B2F"/>
                </a:solidFill>
                <a:latin typeface="Trebuchet MS"/>
                <a:cs typeface="Trebuchet MS"/>
              </a:rPr>
              <a:t>Kolluri</a:t>
            </a:r>
            <a:r>
              <a:rPr sz="2300" spc="95" dirty="0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sz="2300" spc="75" dirty="0">
                <a:solidFill>
                  <a:srgbClr val="2A2B2F"/>
                </a:solidFill>
                <a:latin typeface="Trebuchet MS"/>
                <a:cs typeface="Trebuchet MS"/>
              </a:rPr>
              <a:t>Manideep</a:t>
            </a:r>
            <a:r>
              <a:rPr sz="2300" spc="575" dirty="0">
                <a:solidFill>
                  <a:srgbClr val="2A2B2F"/>
                </a:solidFill>
                <a:latin typeface="Trebuchet MS"/>
                <a:cs typeface="Trebuchet MS"/>
              </a:rPr>
              <a:t>  </a:t>
            </a:r>
            <a:r>
              <a:rPr sz="2300" spc="-10" dirty="0">
                <a:solidFill>
                  <a:srgbClr val="2A2B2F"/>
                </a:solidFill>
                <a:latin typeface="Trebuchet MS"/>
                <a:cs typeface="Trebuchet MS"/>
                <a:hlinkClick r:id="rId2"/>
              </a:rPr>
              <a:t>manideepkolluri73@gmail.com</a:t>
            </a:r>
            <a:r>
              <a:rPr sz="2300" spc="575" dirty="0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sz="2300" spc="-10" dirty="0">
                <a:solidFill>
                  <a:srgbClr val="2A2B2F"/>
                </a:solidFill>
                <a:latin typeface="Trebuchet MS"/>
                <a:cs typeface="Trebuchet MS"/>
              </a:rPr>
              <a:t>https://github.com/Manideep136/AadhaarGuard </a:t>
            </a:r>
            <a:r>
              <a:rPr sz="2300" spc="-25" dirty="0">
                <a:solidFill>
                  <a:srgbClr val="2A2B2F"/>
                </a:solidFill>
                <a:latin typeface="Trebuchet MS"/>
                <a:cs typeface="Trebuchet MS"/>
              </a:rPr>
              <a:t>16</a:t>
            </a:r>
            <a:r>
              <a:rPr sz="2300" spc="-135" dirty="0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sz="2300" spc="-30" dirty="0">
                <a:solidFill>
                  <a:srgbClr val="2A2B2F"/>
                </a:solidFill>
                <a:latin typeface="Trebuchet MS"/>
                <a:cs typeface="Trebuchet MS"/>
              </a:rPr>
              <a:t>January,</a:t>
            </a:r>
            <a:r>
              <a:rPr sz="2300" spc="-135" dirty="0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sz="2300" spc="165" dirty="0">
                <a:solidFill>
                  <a:srgbClr val="2A2B2F"/>
                </a:solidFill>
                <a:latin typeface="Trebuchet MS"/>
                <a:cs typeface="Trebuchet MS"/>
              </a:rPr>
              <a:t>2026</a:t>
            </a:r>
            <a:endParaRPr sz="23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A2B2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479</Words>
  <Application>Microsoft Office PowerPoint</Application>
  <PresentationFormat>Custom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Georgia</vt:lpstr>
      <vt:lpstr>Lucida Sans Unicode</vt:lpstr>
      <vt:lpstr>Trebuchet MS</vt:lpstr>
      <vt:lpstr>Office Theme</vt:lpstr>
      <vt:lpstr>AadhaarGuard A I - P O W E R E D F R A U D D E T E C T I O N</vt:lpstr>
      <vt:lpstr>T H E C H A L L E N G E : D E T E C T I N G F R A U D A T S C A L E</vt:lpstr>
      <vt:lpstr>PowerPoint Presentation</vt:lpstr>
      <vt:lpstr>H O W A A D H A A R G U A R D W O R K S</vt:lpstr>
      <vt:lpstr>S E P A R A T I N G N O R M A L V S . S U S P I C I O U S A C T I V I T Y</vt:lpstr>
      <vt:lpstr>R E A L - W O R L D I M P A C T</vt:lpstr>
      <vt:lpstr>Thank you! S E C U R I N G  T H E F U T U R E O F D I G I T A L I D E N T I T Y , O N E A N O M A L Y A T A  T I M E 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Cream Neutral Minimalist New Business Pitch Deck Presentation</dc:title>
  <dc:creator>Manideepkolluri</dc:creator>
  <cp:keywords>DAG-kHPWkHM,BAG7dlKYXEA,0</cp:keywords>
  <cp:lastModifiedBy>Manideep Kolluri</cp:lastModifiedBy>
  <cp:revision>1</cp:revision>
  <dcterms:created xsi:type="dcterms:W3CDTF">2026-01-16T09:24:31Z</dcterms:created>
  <dcterms:modified xsi:type="dcterms:W3CDTF">2026-01-16T09:25:45Z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2026-01-16T00:00:00Z</vt:filetime>
  </property>
  <property fmtid="{D5CDD505-2E9C-101B-9397-08002B2CF9AE}" pid="3" name="Creator">
    <vt:lpwstr>Canva</vt:lpwstr>
  </property>
  <property fmtid="{D5CDD505-2E9C-101B-9397-08002B2CF9AE}" pid="4" name="LastSaved">
    <vt:filetime>2026-01-16T00:00:00Z</vt:filetime>
  </property>
  <property fmtid="{D5CDD505-2E9C-101B-9397-08002B2CF9AE}" pid="5" name="Producer">
    <vt:lpwstr>Canva</vt:lpwstr>
  </property>
</Properties>
</file>